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81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09420" y="2376677"/>
            <a:ext cx="8775065" cy="635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516" y="145913"/>
            <a:ext cx="11559340" cy="6312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2619" y="275589"/>
            <a:ext cx="3522979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28645" y="2009648"/>
            <a:ext cx="6934708" cy="368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" y="0"/>
            <a:ext cx="8120887" cy="685799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Innovación</a:t>
            </a:r>
            <a:r>
              <a:rPr sz="4000" spc="-120" dirty="0"/>
              <a:t> </a:t>
            </a:r>
            <a:r>
              <a:rPr sz="4000" dirty="0"/>
              <a:t>y</a:t>
            </a:r>
            <a:r>
              <a:rPr sz="4000" spc="-85" dirty="0"/>
              <a:t> </a:t>
            </a:r>
            <a:r>
              <a:rPr sz="4000" dirty="0"/>
              <a:t>Transformación</a:t>
            </a:r>
            <a:r>
              <a:rPr sz="4000" spc="-105" dirty="0"/>
              <a:t> </a:t>
            </a:r>
            <a:r>
              <a:rPr sz="4000" spc="-10" dirty="0"/>
              <a:t>Digital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244591" y="3373628"/>
            <a:ext cx="17037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Arial"/>
                <a:cs typeface="Arial"/>
              </a:rPr>
              <a:t>Semana</a:t>
            </a:r>
            <a:r>
              <a:rPr sz="2200" b="1" spc="-45" dirty="0">
                <a:latin typeface="Arial"/>
                <a:cs typeface="Arial"/>
              </a:rPr>
              <a:t> </a:t>
            </a:r>
            <a:r>
              <a:rPr sz="2200" b="1" spc="-20" dirty="0">
                <a:latin typeface="Arial"/>
                <a:cs typeface="Arial"/>
              </a:rPr>
              <a:t>11.1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 </a:t>
            </a:r>
            <a:r>
              <a:rPr spc="-10" dirty="0"/>
              <a:t>Inicio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1876805"/>
            <a:ext cx="302450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Arial"/>
                <a:cs typeface="Arial"/>
              </a:rPr>
              <a:t>Temario</a:t>
            </a:r>
            <a:endParaRPr sz="28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2175"/>
              </a:spcBef>
              <a:buChar char="•"/>
              <a:tabLst>
                <a:tab pos="297180" algn="l"/>
              </a:tabLst>
            </a:pPr>
            <a:r>
              <a:rPr lang="es-PE" sz="2400" dirty="0" smtClean="0">
                <a:latin typeface="Arial"/>
                <a:cs typeface="Arial"/>
              </a:rPr>
              <a:t>Fundamentos de Inteligencia Artificial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0385" y="1849469"/>
            <a:ext cx="2897124" cy="2906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 </a:t>
            </a:r>
            <a:r>
              <a:rPr spc="-10" dirty="0"/>
              <a:t>Utilidad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09166" y="1852548"/>
            <a:ext cx="8964295" cy="3919220"/>
            <a:chOff x="1709166" y="1852548"/>
            <a:chExt cx="8964295" cy="3919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9166" y="1858517"/>
              <a:ext cx="8964168" cy="39128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544686" y="1858898"/>
              <a:ext cx="1938655" cy="135255"/>
            </a:xfrm>
            <a:custGeom>
              <a:avLst/>
              <a:gdLst/>
              <a:ahLst/>
              <a:cxnLst/>
              <a:rect l="l" t="t" r="r" b="b"/>
              <a:pathLst>
                <a:path w="1938654" h="135255">
                  <a:moveTo>
                    <a:pt x="1938527" y="0"/>
                  </a:moveTo>
                  <a:lnTo>
                    <a:pt x="0" y="0"/>
                  </a:lnTo>
                  <a:lnTo>
                    <a:pt x="0" y="134874"/>
                  </a:lnTo>
                  <a:lnTo>
                    <a:pt x="1938527" y="134874"/>
                  </a:lnTo>
                  <a:lnTo>
                    <a:pt x="1938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44686" y="1858898"/>
              <a:ext cx="1938655" cy="135255"/>
            </a:xfrm>
            <a:custGeom>
              <a:avLst/>
              <a:gdLst/>
              <a:ahLst/>
              <a:cxnLst/>
              <a:rect l="l" t="t" r="r" b="b"/>
              <a:pathLst>
                <a:path w="1938654" h="135255">
                  <a:moveTo>
                    <a:pt x="0" y="134874"/>
                  </a:moveTo>
                  <a:lnTo>
                    <a:pt x="1938527" y="134874"/>
                  </a:lnTo>
                  <a:lnTo>
                    <a:pt x="1938527" y="0"/>
                  </a:lnTo>
                  <a:lnTo>
                    <a:pt x="0" y="0"/>
                  </a:lnTo>
                  <a:lnTo>
                    <a:pt x="0" y="1348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56741" y="488188"/>
            <a:ext cx="19672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 </a:t>
            </a:r>
            <a:r>
              <a:rPr spc="-10" dirty="0"/>
              <a:t>Utilidad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741" y="758362"/>
            <a:ext cx="9190990" cy="2959735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800" b="1" dirty="0">
                <a:latin typeface="Arial"/>
                <a:cs typeface="Arial"/>
              </a:rPr>
              <a:t>¿Qué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tema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trato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la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sesión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anterior?</a:t>
            </a:r>
            <a:endParaRPr sz="2800">
              <a:latin typeface="Arial"/>
              <a:cs typeface="Arial"/>
            </a:endParaRPr>
          </a:p>
          <a:p>
            <a:pPr marL="351790" marR="5080" indent="-339090" algn="just">
              <a:lnSpc>
                <a:spcPct val="100000"/>
              </a:lnSpc>
              <a:spcBef>
                <a:spcPts val="1220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El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objetivo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SAFe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está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síntesis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conjunto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conocimientos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las 	</a:t>
            </a:r>
            <a:r>
              <a:rPr sz="2000" dirty="0">
                <a:latin typeface="Arial"/>
                <a:cs typeface="Arial"/>
              </a:rPr>
              <a:t>lecciones</a:t>
            </a:r>
            <a:r>
              <a:rPr sz="2000" spc="4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aprendidas</a:t>
            </a:r>
            <a:r>
              <a:rPr sz="2000" spc="4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por</a:t>
            </a:r>
            <a:r>
              <a:rPr sz="2000" spc="459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cientos</a:t>
            </a:r>
            <a:r>
              <a:rPr sz="2000" spc="4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4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implementaciones</a:t>
            </a:r>
            <a:r>
              <a:rPr sz="2000" spc="4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bajo</a:t>
            </a:r>
            <a:r>
              <a:rPr sz="2000" spc="4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</a:t>
            </a:r>
            <a:r>
              <a:rPr sz="2000" spc="4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marco</a:t>
            </a:r>
            <a:r>
              <a:rPr sz="2000" spc="459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 	</a:t>
            </a:r>
            <a:r>
              <a:rPr sz="2000" dirty="0">
                <a:latin typeface="Arial"/>
                <a:cs typeface="Arial"/>
              </a:rPr>
              <a:t>desarrollo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ágil.</a:t>
            </a:r>
            <a:endParaRPr sz="2000">
              <a:latin typeface="Arial"/>
              <a:cs typeface="Arial"/>
            </a:endParaRPr>
          </a:p>
          <a:p>
            <a:pPr marL="351790" marR="5080" indent="-33909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Con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este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framework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pretende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promover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sistema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prácticas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integradas 	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probadas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ha</a:t>
            </a:r>
            <a:r>
              <a:rPr sz="2000" spc="1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demostrado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traer</a:t>
            </a:r>
            <a:r>
              <a:rPr sz="2000" spc="1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mejoras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sustanciales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10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compromiso 	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empleados,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tiempo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comercialización,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calidad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solución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la 	</a:t>
            </a:r>
            <a:r>
              <a:rPr sz="2000" dirty="0">
                <a:latin typeface="Arial"/>
                <a:cs typeface="Arial"/>
              </a:rPr>
              <a:t>productividad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equipos.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02229" y="4175759"/>
            <a:ext cx="6175375" cy="2682240"/>
            <a:chOff x="2602229" y="4175759"/>
            <a:chExt cx="6175375" cy="26822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2229" y="4175759"/>
              <a:ext cx="2148077" cy="26822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5277" y="4495799"/>
              <a:ext cx="2362200" cy="236219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172714" y="3950716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Dudas??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8007" y="4055617"/>
            <a:ext cx="175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Preguntas??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47369" y="515619"/>
            <a:ext cx="6541134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 </a:t>
            </a:r>
            <a:r>
              <a:rPr spc="-10" dirty="0"/>
              <a:t>Utilidad</a:t>
            </a:r>
          </a:p>
          <a:p>
            <a:pPr marL="12700">
              <a:lnSpc>
                <a:spcPct val="100000"/>
              </a:lnSpc>
            </a:pPr>
            <a:r>
              <a:rPr dirty="0"/>
              <a:t>Logro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aprendizaje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spc="-10" dirty="0"/>
              <a:t>sesión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710945" y="2569464"/>
            <a:ext cx="4922520" cy="20550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Arial"/>
                <a:cs typeface="Arial"/>
              </a:rPr>
              <a:t>Al</a:t>
            </a:r>
            <a:r>
              <a:rPr sz="2400" spc="5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finalizar</a:t>
            </a:r>
            <a:r>
              <a:rPr sz="2400" spc="5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5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sesión</a:t>
            </a:r>
            <a:r>
              <a:rPr sz="2400" spc="5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5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estudiante </a:t>
            </a:r>
            <a:r>
              <a:rPr sz="2400" dirty="0">
                <a:latin typeface="Arial"/>
                <a:cs typeface="Arial"/>
              </a:rPr>
              <a:t>comprende</a:t>
            </a:r>
            <a:r>
              <a:rPr sz="2400" spc="1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1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definición</a:t>
            </a:r>
            <a:r>
              <a:rPr sz="2400" spc="20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conceptual </a:t>
            </a:r>
            <a:r>
              <a:rPr lang="es-PE" sz="2400" dirty="0" smtClean="0">
                <a:latin typeface="Arial"/>
                <a:cs typeface="Arial"/>
              </a:rPr>
              <a:t>Fundamentos de Inteligencia Artificial</a:t>
            </a:r>
            <a:r>
              <a:rPr sz="2400" spc="215" dirty="0" smtClean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22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su</a:t>
            </a:r>
            <a:r>
              <a:rPr sz="2400" spc="22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importancia</a:t>
            </a:r>
            <a:r>
              <a:rPr sz="2400" spc="21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220" dirty="0">
                <a:latin typeface="Arial"/>
                <a:cs typeface="Arial"/>
              </a:rPr>
              <a:t>  </a:t>
            </a:r>
            <a:r>
              <a:rPr sz="2400" spc="-25" dirty="0">
                <a:latin typeface="Arial"/>
                <a:cs typeface="Arial"/>
              </a:rPr>
              <a:t>la </a:t>
            </a:r>
            <a:r>
              <a:rPr sz="2400" dirty="0">
                <a:latin typeface="Arial"/>
                <a:cs typeface="Arial"/>
              </a:rPr>
              <a:t>Integración</a:t>
            </a:r>
            <a:r>
              <a:rPr sz="2400" spc="550" dirty="0">
                <a:latin typeface="Arial"/>
                <a:cs typeface="Arial"/>
              </a:rPr>
              <a:t>   </a:t>
            </a:r>
            <a:r>
              <a:rPr sz="2400" dirty="0">
                <a:latin typeface="Arial"/>
                <a:cs typeface="Arial"/>
              </a:rPr>
              <a:t>Continua</a:t>
            </a:r>
            <a:r>
              <a:rPr sz="2400" spc="550" dirty="0">
                <a:latin typeface="Arial"/>
                <a:cs typeface="Arial"/>
              </a:rPr>
              <a:t>   </a:t>
            </a:r>
            <a:r>
              <a:rPr sz="2400" dirty="0">
                <a:latin typeface="Arial"/>
                <a:cs typeface="Arial"/>
              </a:rPr>
              <a:t>en</a:t>
            </a:r>
            <a:r>
              <a:rPr sz="2400" spc="545" dirty="0">
                <a:latin typeface="Arial"/>
                <a:cs typeface="Arial"/>
              </a:rPr>
              <a:t>   </a:t>
            </a:r>
            <a:r>
              <a:rPr sz="2400" spc="-25" dirty="0">
                <a:latin typeface="Arial"/>
                <a:cs typeface="Arial"/>
              </a:rPr>
              <a:t>los </a:t>
            </a:r>
            <a:r>
              <a:rPr sz="2400" dirty="0">
                <a:latin typeface="Arial"/>
                <a:cs typeface="Arial"/>
              </a:rPr>
              <a:t>proyectos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agiles.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0" y="1905000"/>
            <a:ext cx="4552950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275589"/>
            <a:ext cx="451231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2. </a:t>
            </a:r>
            <a:r>
              <a:rPr spc="-10" dirty="0"/>
              <a:t>Utilidad </a:t>
            </a:r>
            <a:r>
              <a:rPr dirty="0"/>
              <a:t>Conocimientos</a:t>
            </a:r>
            <a:r>
              <a:rPr spc="-90" dirty="0"/>
              <a:t> </a:t>
            </a:r>
            <a:r>
              <a:rPr spc="-10" dirty="0"/>
              <a:t>previos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8853" y="689609"/>
            <a:ext cx="9335770" cy="4074160"/>
            <a:chOff x="1498853" y="689609"/>
            <a:chExt cx="9335770" cy="4074160"/>
          </a:xfrm>
        </p:grpSpPr>
        <p:sp>
          <p:nvSpPr>
            <p:cNvPr id="4" name="object 4"/>
            <p:cNvSpPr/>
            <p:nvPr/>
          </p:nvSpPr>
          <p:spPr>
            <a:xfrm>
              <a:off x="8544686" y="1858898"/>
              <a:ext cx="1938655" cy="135255"/>
            </a:xfrm>
            <a:custGeom>
              <a:avLst/>
              <a:gdLst/>
              <a:ahLst/>
              <a:cxnLst/>
              <a:rect l="l" t="t" r="r" b="b"/>
              <a:pathLst>
                <a:path w="1938654" h="135255">
                  <a:moveTo>
                    <a:pt x="1938527" y="0"/>
                  </a:moveTo>
                  <a:lnTo>
                    <a:pt x="0" y="0"/>
                  </a:lnTo>
                  <a:lnTo>
                    <a:pt x="0" y="134874"/>
                  </a:lnTo>
                  <a:lnTo>
                    <a:pt x="1938527" y="134874"/>
                  </a:lnTo>
                  <a:lnTo>
                    <a:pt x="1938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44686" y="1858898"/>
              <a:ext cx="1938655" cy="135255"/>
            </a:xfrm>
            <a:custGeom>
              <a:avLst/>
              <a:gdLst/>
              <a:ahLst/>
              <a:cxnLst/>
              <a:rect l="l" t="t" r="r" b="b"/>
              <a:pathLst>
                <a:path w="1938654" h="135255">
                  <a:moveTo>
                    <a:pt x="0" y="134874"/>
                  </a:moveTo>
                  <a:lnTo>
                    <a:pt x="1938527" y="134874"/>
                  </a:lnTo>
                  <a:lnTo>
                    <a:pt x="1938527" y="0"/>
                  </a:lnTo>
                  <a:lnTo>
                    <a:pt x="0" y="0"/>
                  </a:lnTo>
                  <a:lnTo>
                    <a:pt x="0" y="13487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95032" y="689609"/>
              <a:ext cx="3339083" cy="3657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98853" y="2094737"/>
              <a:ext cx="5306568" cy="266852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1049274"/>
            <a:ext cx="796798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 smtClean="0">
                <a:solidFill>
                  <a:srgbClr val="FF0000"/>
                </a:solidFill>
                <a:latin typeface="Arial"/>
                <a:cs typeface="Arial"/>
              </a:rPr>
              <a:t>¿</a:t>
            </a:r>
            <a:r>
              <a:rPr lang="es-PE" sz="3200" b="1" dirty="0" smtClean="0">
                <a:solidFill>
                  <a:srgbClr val="FF0000"/>
                </a:solidFill>
                <a:latin typeface="Arial"/>
                <a:cs typeface="Arial"/>
              </a:rPr>
              <a:t>Fundamentos de Inteligencia Artificial</a:t>
            </a:r>
            <a:r>
              <a:rPr sz="3200" b="1" spc="-10" dirty="0" smtClean="0">
                <a:solidFill>
                  <a:srgbClr val="FF0000"/>
                </a:solidFill>
                <a:latin typeface="Arial"/>
                <a:cs typeface="Arial"/>
              </a:rPr>
              <a:t>?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8089" y="2020062"/>
            <a:ext cx="9736455" cy="32566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5080" indent="-33909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lang="es-ES" sz="2000" dirty="0" smtClean="0">
                <a:latin typeface="Arial"/>
                <a:cs typeface="Arial"/>
              </a:rPr>
              <a:t> Simulación de procesos de inteligencia humana por parte de sistemas informáticos.</a:t>
            </a:r>
            <a:r>
              <a:rPr sz="2000" dirty="0" err="1" smtClean="0">
                <a:latin typeface="Arial"/>
                <a:cs typeface="Arial"/>
              </a:rPr>
              <a:t>Conjunto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mejores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prácticas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centra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colaboración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comunicación 	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3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profesionales</a:t>
            </a:r>
            <a:r>
              <a:rPr sz="2000" spc="3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3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</a:t>
            </a:r>
            <a:r>
              <a:rPr sz="2000" spc="3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(desarrolladores,</a:t>
            </a:r>
            <a:r>
              <a:rPr sz="2000" spc="3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operadores</a:t>
            </a:r>
            <a:r>
              <a:rPr sz="2000" spc="3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3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técnicos</a:t>
            </a:r>
            <a:r>
              <a:rPr sz="2000" spc="4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3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soporte) 	</a:t>
            </a:r>
            <a:r>
              <a:rPr sz="2000" dirty="0">
                <a:latin typeface="Arial"/>
                <a:cs typeface="Arial"/>
              </a:rPr>
              <a:t>dentro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ciclo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vida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aplicaciones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 err="1">
                <a:latin typeface="Arial"/>
                <a:cs typeface="Arial"/>
              </a:rPr>
              <a:t>servicios</a:t>
            </a:r>
            <a:r>
              <a:rPr sz="2000" spc="-10" dirty="0" smtClean="0">
                <a:latin typeface="Arial"/>
                <a:cs typeface="Arial"/>
              </a:rPr>
              <a:t>.</a:t>
            </a:r>
            <a:endParaRPr lang="es-PE" sz="2000" spc="-10" dirty="0" smtClean="0">
              <a:latin typeface="Arial"/>
              <a:cs typeface="Arial"/>
            </a:endParaRPr>
          </a:p>
          <a:p>
            <a:pPr marL="351790" marR="5080" indent="-33909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lang="es-ES" sz="2000" spc="-10" dirty="0" smtClean="0">
                <a:latin typeface="Arial"/>
                <a:cs typeface="Arial"/>
              </a:rPr>
              <a:t> • Capacidades clave:	</a:t>
            </a:r>
          </a:p>
          <a:p>
            <a:pPr marL="351790" marR="5080" indent="-33909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lang="es-ES" sz="2000" spc="-10" dirty="0" smtClean="0">
                <a:latin typeface="Arial"/>
                <a:cs typeface="Arial"/>
              </a:rPr>
              <a:t>• Aprendizaje: Adquisición de información y reglas de uso.	</a:t>
            </a:r>
          </a:p>
          <a:p>
            <a:pPr marL="351790" marR="5080" indent="-33909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lang="es-ES" sz="2000" spc="-10" dirty="0" smtClean="0">
                <a:latin typeface="Arial"/>
                <a:cs typeface="Arial"/>
              </a:rPr>
              <a:t>• Razonamiento: Aplicación de reglas para llegar a conclusiones.	</a:t>
            </a:r>
          </a:p>
          <a:p>
            <a:pPr marL="351790" marR="5080" indent="-33909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lang="es-ES" sz="2000" spc="-10" dirty="0" smtClean="0">
                <a:latin typeface="Arial"/>
                <a:cs typeface="Arial"/>
              </a:rPr>
              <a:t>• Autocorrección y adaptación al contexto.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516" y="145913"/>
            <a:ext cx="11559340" cy="6312404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642619" y="275589"/>
            <a:ext cx="35229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Arial"/>
                <a:cs typeface="Arial"/>
              </a:rPr>
              <a:t>3. </a:t>
            </a:r>
            <a:r>
              <a:rPr sz="3200" b="1" spc="-10" dirty="0">
                <a:latin typeface="Arial"/>
                <a:cs typeface="Arial"/>
              </a:rPr>
              <a:t>Transformación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8072" y="1049274"/>
            <a:ext cx="8186928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3200" b="1" dirty="0" smtClean="0">
                <a:solidFill>
                  <a:srgbClr val="FF0000"/>
                </a:solidFill>
                <a:latin typeface="Arial"/>
                <a:cs typeface="Arial"/>
              </a:rPr>
              <a:t>Enfoques clásicos (Russell y </a:t>
            </a:r>
            <a:r>
              <a:rPr lang="es-ES" sz="3200" b="1" dirty="0" err="1" smtClean="0">
                <a:solidFill>
                  <a:srgbClr val="FF0000"/>
                </a:solidFill>
                <a:latin typeface="Arial"/>
                <a:cs typeface="Arial"/>
              </a:rPr>
              <a:t>Norvig</a:t>
            </a:r>
            <a:r>
              <a:rPr lang="es-ES" sz="3200" b="1" dirty="0" smtClean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048000" y="296733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s-PE" b="0" u="none" strike="noStrike" dirty="0" smtClean="0">
              <a:effectLst/>
              <a:latin typeface="Google San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PE" sz="3600" b="0" u="none" strike="noStrike" dirty="0" smtClean="0">
                <a:effectLst/>
                <a:latin typeface="Google Sans"/>
              </a:rPr>
              <a:t>Pensar de manera racional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PE" sz="3600" b="0" u="none" strike="noStrike" dirty="0" smtClean="0">
                <a:effectLst/>
                <a:latin typeface="Google Sans"/>
              </a:rPr>
              <a:t> actuar de manera racional</a:t>
            </a:r>
            <a:r>
              <a:rPr lang="es-PE" b="0" u="none" strike="noStrike" dirty="0" smtClean="0">
                <a:effectLst/>
                <a:latin typeface="Google Sans"/>
              </a:rPr>
              <a:t>. </a:t>
            </a:r>
            <a:endParaRPr lang="es-PE" b="0" u="none" strike="noStrike" dirty="0">
              <a:effectLst/>
              <a:latin typeface="Google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941639" y="1143000"/>
            <a:ext cx="49199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dirty="0" smtClean="0"/>
              <a:t>Orígenes y Evolución de la IA</a:t>
            </a:r>
            <a:endParaRPr lang="es-PE" sz="2800" dirty="0"/>
          </a:p>
        </p:txBody>
      </p:sp>
      <p:sp>
        <p:nvSpPr>
          <p:cNvPr id="13" name="Rectángulo 12"/>
          <p:cNvSpPr/>
          <p:nvPr/>
        </p:nvSpPr>
        <p:spPr>
          <a:xfrm>
            <a:off x="982130" y="1828800"/>
            <a:ext cx="107169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0" u="none" strike="noStrike" dirty="0" smtClean="0">
                <a:effectLst/>
                <a:latin typeface="Google Sans"/>
              </a:rPr>
              <a:t>Combinación de la lógica matemática, ciencias cognitivas, informática y filosofía.</a:t>
            </a:r>
            <a:r>
              <a:rPr lang="es-ES" sz="2400" dirty="0" smtClean="0"/>
              <a:t> </a:t>
            </a:r>
            <a:endParaRPr lang="es-PE" sz="2400" dirty="0"/>
          </a:p>
        </p:txBody>
      </p:sp>
      <p:sp>
        <p:nvSpPr>
          <p:cNvPr id="14" name="Rectángulo 13"/>
          <p:cNvSpPr/>
          <p:nvPr/>
        </p:nvSpPr>
        <p:spPr>
          <a:xfrm>
            <a:off x="1295400" y="2822377"/>
            <a:ext cx="8305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000" b="1" u="none" strike="noStrike" dirty="0" smtClean="0">
                <a:effectLst/>
                <a:latin typeface="Google Sans"/>
              </a:rPr>
              <a:t>Hitos históricos:</a:t>
            </a:r>
            <a:endParaRPr lang="es-ES" sz="20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u="none" strike="noStrike" dirty="0" smtClean="0">
                <a:effectLst/>
                <a:latin typeface="Google Sans"/>
              </a:rPr>
              <a:t>1950:</a:t>
            </a:r>
            <a:r>
              <a:rPr lang="es-ES" sz="2000" b="0" u="none" strike="noStrike" dirty="0" smtClean="0">
                <a:effectLst/>
                <a:latin typeface="Google Sans"/>
              </a:rPr>
              <a:t> Test de Turing (propuesto por Alan Turing).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u="none" strike="noStrike" dirty="0" smtClean="0">
                <a:effectLst/>
                <a:latin typeface="Google Sans"/>
              </a:rPr>
              <a:t>1956:</a:t>
            </a:r>
            <a:r>
              <a:rPr lang="es-ES" sz="2000" b="0" u="none" strike="noStrike" dirty="0" smtClean="0">
                <a:effectLst/>
                <a:latin typeface="Google Sans"/>
              </a:rPr>
              <a:t> Conferencia de </a:t>
            </a:r>
            <a:r>
              <a:rPr lang="es-ES" sz="2000" b="0" u="none" strike="noStrike" dirty="0" err="1" smtClean="0">
                <a:effectLst/>
                <a:latin typeface="Google Sans"/>
              </a:rPr>
              <a:t>Dartmouth</a:t>
            </a:r>
            <a:r>
              <a:rPr lang="es-ES" sz="2000" b="0" u="none" strike="noStrike" dirty="0" smtClean="0">
                <a:effectLst/>
                <a:latin typeface="Google Sans"/>
              </a:rPr>
              <a:t> (nacimiento formal de la IA).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u="none" strike="noStrike" dirty="0" smtClean="0">
                <a:effectLst/>
                <a:latin typeface="Google Sans"/>
              </a:rPr>
              <a:t>1965 - 1970s:</a:t>
            </a:r>
            <a:r>
              <a:rPr lang="es-ES" sz="2000" b="0" u="none" strike="noStrike" dirty="0" smtClean="0">
                <a:effectLst/>
                <a:latin typeface="Google Sans"/>
              </a:rPr>
              <a:t> Sistemas expertos y razonamiento simbólico (GPS, MYCIN).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000" b="1" u="none" strike="noStrike" dirty="0" smtClean="0">
                <a:effectLst/>
                <a:latin typeface="Google Sans"/>
              </a:rPr>
              <a:t>Actualidad:</a:t>
            </a:r>
            <a:r>
              <a:rPr lang="es-ES" sz="2000" b="0" u="none" strike="noStrike" dirty="0" smtClean="0">
                <a:effectLst/>
                <a:latin typeface="Google Sans"/>
              </a:rPr>
              <a:t> Transición hacia modelos conexionistas, </a:t>
            </a:r>
            <a:r>
              <a:rPr lang="es-ES" sz="2000" b="0" i="1" u="none" strike="noStrike" dirty="0" smtClean="0">
                <a:effectLst/>
                <a:latin typeface="Google Sans"/>
              </a:rPr>
              <a:t>Deep </a:t>
            </a:r>
            <a:r>
              <a:rPr lang="es-ES" sz="2000" b="0" i="1" u="none" strike="noStrike" dirty="0" err="1" smtClean="0">
                <a:effectLst/>
                <a:latin typeface="Google Sans"/>
              </a:rPr>
              <a:t>Learning</a:t>
            </a:r>
            <a:r>
              <a:rPr lang="es-ES" sz="2000" b="0" u="none" strike="noStrike" dirty="0" smtClean="0">
                <a:effectLst/>
                <a:latin typeface="Google Sans"/>
              </a:rPr>
              <a:t> y agentes autónomos. </a:t>
            </a:r>
            <a:endParaRPr lang="es-ES" sz="2000" b="0" u="none" strike="noStrike" dirty="0">
              <a:effectLst/>
              <a:latin typeface="Google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92807" y="1809114"/>
            <a:ext cx="5948680" cy="792480"/>
            <a:chOff x="2392807" y="1809114"/>
            <a:chExt cx="5948680" cy="792480"/>
          </a:xfrm>
        </p:grpSpPr>
        <p:sp>
          <p:nvSpPr>
            <p:cNvPr id="4" name="object 4"/>
            <p:cNvSpPr/>
            <p:nvPr/>
          </p:nvSpPr>
          <p:spPr>
            <a:xfrm>
              <a:off x="2399157" y="1815464"/>
              <a:ext cx="5935980" cy="779780"/>
            </a:xfrm>
            <a:custGeom>
              <a:avLst/>
              <a:gdLst/>
              <a:ahLst/>
              <a:cxnLst/>
              <a:rect l="l" t="t" r="r" b="b"/>
              <a:pathLst>
                <a:path w="5935980" h="779780">
                  <a:moveTo>
                    <a:pt x="5806059" y="0"/>
                  </a:moveTo>
                  <a:lnTo>
                    <a:pt x="129920" y="0"/>
                  </a:lnTo>
                  <a:lnTo>
                    <a:pt x="79349" y="10209"/>
                  </a:lnTo>
                  <a:lnTo>
                    <a:pt x="38052" y="38052"/>
                  </a:lnTo>
                  <a:lnTo>
                    <a:pt x="10209" y="79349"/>
                  </a:lnTo>
                  <a:lnTo>
                    <a:pt x="0" y="129921"/>
                  </a:lnTo>
                  <a:lnTo>
                    <a:pt x="0" y="649605"/>
                  </a:lnTo>
                  <a:lnTo>
                    <a:pt x="10209" y="700176"/>
                  </a:lnTo>
                  <a:lnTo>
                    <a:pt x="38052" y="741473"/>
                  </a:lnTo>
                  <a:lnTo>
                    <a:pt x="79349" y="769316"/>
                  </a:lnTo>
                  <a:lnTo>
                    <a:pt x="129920" y="779526"/>
                  </a:lnTo>
                  <a:lnTo>
                    <a:pt x="5806059" y="779526"/>
                  </a:lnTo>
                  <a:lnTo>
                    <a:pt x="5856630" y="769316"/>
                  </a:lnTo>
                  <a:lnTo>
                    <a:pt x="5897927" y="741473"/>
                  </a:lnTo>
                  <a:lnTo>
                    <a:pt x="5925770" y="700176"/>
                  </a:lnTo>
                  <a:lnTo>
                    <a:pt x="5935980" y="649605"/>
                  </a:lnTo>
                  <a:lnTo>
                    <a:pt x="5935980" y="129921"/>
                  </a:lnTo>
                  <a:lnTo>
                    <a:pt x="5925770" y="79349"/>
                  </a:lnTo>
                  <a:lnTo>
                    <a:pt x="5897927" y="38052"/>
                  </a:lnTo>
                  <a:lnTo>
                    <a:pt x="5856630" y="10209"/>
                  </a:lnTo>
                  <a:lnTo>
                    <a:pt x="580605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99157" y="1815464"/>
              <a:ext cx="5935980" cy="779780"/>
            </a:xfrm>
            <a:custGeom>
              <a:avLst/>
              <a:gdLst/>
              <a:ahLst/>
              <a:cxnLst/>
              <a:rect l="l" t="t" r="r" b="b"/>
              <a:pathLst>
                <a:path w="5935980" h="779780">
                  <a:moveTo>
                    <a:pt x="0" y="129921"/>
                  </a:moveTo>
                  <a:lnTo>
                    <a:pt x="10209" y="79349"/>
                  </a:lnTo>
                  <a:lnTo>
                    <a:pt x="38052" y="38052"/>
                  </a:lnTo>
                  <a:lnTo>
                    <a:pt x="79349" y="10209"/>
                  </a:lnTo>
                  <a:lnTo>
                    <a:pt x="129920" y="0"/>
                  </a:lnTo>
                  <a:lnTo>
                    <a:pt x="5806059" y="0"/>
                  </a:lnTo>
                  <a:lnTo>
                    <a:pt x="5856630" y="10209"/>
                  </a:lnTo>
                  <a:lnTo>
                    <a:pt x="5897927" y="38052"/>
                  </a:lnTo>
                  <a:lnTo>
                    <a:pt x="5925770" y="79349"/>
                  </a:lnTo>
                  <a:lnTo>
                    <a:pt x="5935980" y="129921"/>
                  </a:lnTo>
                  <a:lnTo>
                    <a:pt x="5935980" y="649605"/>
                  </a:lnTo>
                  <a:lnTo>
                    <a:pt x="5925770" y="700176"/>
                  </a:lnTo>
                  <a:lnTo>
                    <a:pt x="5897927" y="741473"/>
                  </a:lnTo>
                  <a:lnTo>
                    <a:pt x="5856630" y="769316"/>
                  </a:lnTo>
                  <a:lnTo>
                    <a:pt x="5806059" y="779526"/>
                  </a:lnTo>
                  <a:lnTo>
                    <a:pt x="129920" y="779526"/>
                  </a:lnTo>
                  <a:lnTo>
                    <a:pt x="79349" y="769316"/>
                  </a:lnTo>
                  <a:lnTo>
                    <a:pt x="38052" y="741473"/>
                  </a:lnTo>
                  <a:lnTo>
                    <a:pt x="10209" y="700176"/>
                  </a:lnTo>
                  <a:lnTo>
                    <a:pt x="0" y="649605"/>
                  </a:lnTo>
                  <a:lnTo>
                    <a:pt x="0" y="129921"/>
                  </a:lnTo>
                  <a:close/>
                </a:path>
              </a:pathLst>
            </a:custGeom>
            <a:ln w="1269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38072" y="798745"/>
            <a:ext cx="6821170" cy="1837055"/>
          </a:xfrm>
          <a:prstGeom prst="rect">
            <a:avLst/>
          </a:prstGeom>
        </p:spPr>
        <p:txBody>
          <a:bodyPr vert="horz" wrap="square" lIns="0" tIns="262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Proceso</a:t>
            </a:r>
            <a:r>
              <a:rPr sz="32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Desarrollo</a:t>
            </a:r>
            <a:endParaRPr sz="3200">
              <a:latin typeface="Arial"/>
              <a:cs typeface="Arial"/>
            </a:endParaRPr>
          </a:p>
          <a:p>
            <a:pPr marL="1661795" marR="5080" indent="-416559">
              <a:lnSpc>
                <a:spcPct val="100000"/>
              </a:lnSpc>
              <a:spcBef>
                <a:spcPts val="1730"/>
              </a:spcBef>
            </a:pPr>
            <a:r>
              <a:rPr sz="2800" dirty="0">
                <a:latin typeface="Arial"/>
                <a:cs typeface="Arial"/>
              </a:rPr>
              <a:t>El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software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independiente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de </a:t>
            </a:r>
            <a:r>
              <a:rPr sz="2800" dirty="0">
                <a:latin typeface="Arial"/>
                <a:cs typeface="Arial"/>
              </a:rPr>
              <a:t>los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usuarios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desarrolladores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24050" y="2910077"/>
            <a:ext cx="7517130" cy="3360420"/>
            <a:chOff x="1924050" y="2910077"/>
            <a:chExt cx="7517130" cy="33604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4050" y="5054345"/>
              <a:ext cx="2847594" cy="12161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7570" y="2910077"/>
              <a:ext cx="2213610" cy="19080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954148" y="3010280"/>
              <a:ext cx="4662170" cy="1464945"/>
            </a:xfrm>
            <a:custGeom>
              <a:avLst/>
              <a:gdLst/>
              <a:ahLst/>
              <a:cxnLst/>
              <a:rect l="l" t="t" r="r" b="b"/>
              <a:pathLst>
                <a:path w="4662170" h="1464945">
                  <a:moveTo>
                    <a:pt x="4417822" y="0"/>
                  </a:moveTo>
                  <a:lnTo>
                    <a:pt x="244094" y="0"/>
                  </a:lnTo>
                  <a:lnTo>
                    <a:pt x="194918" y="4961"/>
                  </a:lnTo>
                  <a:lnTo>
                    <a:pt x="149107" y="19190"/>
                  </a:lnTo>
                  <a:lnTo>
                    <a:pt x="107646" y="41703"/>
                  </a:lnTo>
                  <a:lnTo>
                    <a:pt x="71516" y="71516"/>
                  </a:lnTo>
                  <a:lnTo>
                    <a:pt x="41703" y="107646"/>
                  </a:lnTo>
                  <a:lnTo>
                    <a:pt x="19190" y="149107"/>
                  </a:lnTo>
                  <a:lnTo>
                    <a:pt x="4961" y="194918"/>
                  </a:lnTo>
                  <a:lnTo>
                    <a:pt x="0" y="244094"/>
                  </a:lnTo>
                  <a:lnTo>
                    <a:pt x="0" y="1220470"/>
                  </a:lnTo>
                  <a:lnTo>
                    <a:pt x="4961" y="1269645"/>
                  </a:lnTo>
                  <a:lnTo>
                    <a:pt x="19190" y="1315456"/>
                  </a:lnTo>
                  <a:lnTo>
                    <a:pt x="41703" y="1356917"/>
                  </a:lnTo>
                  <a:lnTo>
                    <a:pt x="71516" y="1393047"/>
                  </a:lnTo>
                  <a:lnTo>
                    <a:pt x="107646" y="1422860"/>
                  </a:lnTo>
                  <a:lnTo>
                    <a:pt x="149107" y="1445373"/>
                  </a:lnTo>
                  <a:lnTo>
                    <a:pt x="194918" y="1459602"/>
                  </a:lnTo>
                  <a:lnTo>
                    <a:pt x="244094" y="1464564"/>
                  </a:lnTo>
                  <a:lnTo>
                    <a:pt x="4417822" y="1464564"/>
                  </a:lnTo>
                  <a:lnTo>
                    <a:pt x="4466997" y="1459602"/>
                  </a:lnTo>
                  <a:lnTo>
                    <a:pt x="4512808" y="1445373"/>
                  </a:lnTo>
                  <a:lnTo>
                    <a:pt x="4554269" y="1422860"/>
                  </a:lnTo>
                  <a:lnTo>
                    <a:pt x="4590399" y="1393047"/>
                  </a:lnTo>
                  <a:lnTo>
                    <a:pt x="4620212" y="1356917"/>
                  </a:lnTo>
                  <a:lnTo>
                    <a:pt x="4642725" y="1315456"/>
                  </a:lnTo>
                  <a:lnTo>
                    <a:pt x="4656954" y="1269645"/>
                  </a:lnTo>
                  <a:lnTo>
                    <a:pt x="4661916" y="1220470"/>
                  </a:lnTo>
                  <a:lnTo>
                    <a:pt x="4661916" y="244094"/>
                  </a:lnTo>
                  <a:lnTo>
                    <a:pt x="4656954" y="194918"/>
                  </a:lnTo>
                  <a:lnTo>
                    <a:pt x="4642725" y="149107"/>
                  </a:lnTo>
                  <a:lnTo>
                    <a:pt x="4620212" y="107646"/>
                  </a:lnTo>
                  <a:lnTo>
                    <a:pt x="4590399" y="71516"/>
                  </a:lnTo>
                  <a:lnTo>
                    <a:pt x="4554269" y="41703"/>
                  </a:lnTo>
                  <a:lnTo>
                    <a:pt x="4512808" y="19190"/>
                  </a:lnTo>
                  <a:lnTo>
                    <a:pt x="4466997" y="4961"/>
                  </a:lnTo>
                  <a:lnTo>
                    <a:pt x="4417822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54148" y="3010280"/>
              <a:ext cx="4662170" cy="1464945"/>
            </a:xfrm>
            <a:custGeom>
              <a:avLst/>
              <a:gdLst/>
              <a:ahLst/>
              <a:cxnLst/>
              <a:rect l="l" t="t" r="r" b="b"/>
              <a:pathLst>
                <a:path w="4662170" h="1464945">
                  <a:moveTo>
                    <a:pt x="0" y="244094"/>
                  </a:moveTo>
                  <a:lnTo>
                    <a:pt x="4961" y="194918"/>
                  </a:lnTo>
                  <a:lnTo>
                    <a:pt x="19190" y="149107"/>
                  </a:lnTo>
                  <a:lnTo>
                    <a:pt x="41703" y="107646"/>
                  </a:lnTo>
                  <a:lnTo>
                    <a:pt x="71516" y="71516"/>
                  </a:lnTo>
                  <a:lnTo>
                    <a:pt x="107646" y="41703"/>
                  </a:lnTo>
                  <a:lnTo>
                    <a:pt x="149107" y="19190"/>
                  </a:lnTo>
                  <a:lnTo>
                    <a:pt x="194918" y="4961"/>
                  </a:lnTo>
                  <a:lnTo>
                    <a:pt x="244094" y="0"/>
                  </a:lnTo>
                  <a:lnTo>
                    <a:pt x="4417822" y="0"/>
                  </a:lnTo>
                  <a:lnTo>
                    <a:pt x="4466997" y="4961"/>
                  </a:lnTo>
                  <a:lnTo>
                    <a:pt x="4512808" y="19190"/>
                  </a:lnTo>
                  <a:lnTo>
                    <a:pt x="4554269" y="41703"/>
                  </a:lnTo>
                  <a:lnTo>
                    <a:pt x="4590399" y="71516"/>
                  </a:lnTo>
                  <a:lnTo>
                    <a:pt x="4620212" y="107646"/>
                  </a:lnTo>
                  <a:lnTo>
                    <a:pt x="4642725" y="149107"/>
                  </a:lnTo>
                  <a:lnTo>
                    <a:pt x="4656954" y="194918"/>
                  </a:lnTo>
                  <a:lnTo>
                    <a:pt x="4661916" y="244094"/>
                  </a:lnTo>
                  <a:lnTo>
                    <a:pt x="4661916" y="1220470"/>
                  </a:lnTo>
                  <a:lnTo>
                    <a:pt x="4656954" y="1269645"/>
                  </a:lnTo>
                  <a:lnTo>
                    <a:pt x="4642725" y="1315456"/>
                  </a:lnTo>
                  <a:lnTo>
                    <a:pt x="4620212" y="1356917"/>
                  </a:lnTo>
                  <a:lnTo>
                    <a:pt x="4590399" y="1393047"/>
                  </a:lnTo>
                  <a:lnTo>
                    <a:pt x="4554269" y="1422860"/>
                  </a:lnTo>
                  <a:lnTo>
                    <a:pt x="4512808" y="1445373"/>
                  </a:lnTo>
                  <a:lnTo>
                    <a:pt x="4466997" y="1459602"/>
                  </a:lnTo>
                  <a:lnTo>
                    <a:pt x="4417822" y="1464564"/>
                  </a:lnTo>
                  <a:lnTo>
                    <a:pt x="244094" y="1464564"/>
                  </a:lnTo>
                  <a:lnTo>
                    <a:pt x="194918" y="1459602"/>
                  </a:lnTo>
                  <a:lnTo>
                    <a:pt x="149107" y="1445373"/>
                  </a:lnTo>
                  <a:lnTo>
                    <a:pt x="107646" y="1422860"/>
                  </a:lnTo>
                  <a:lnTo>
                    <a:pt x="71516" y="1393047"/>
                  </a:lnTo>
                  <a:lnTo>
                    <a:pt x="41703" y="1356917"/>
                  </a:lnTo>
                  <a:lnTo>
                    <a:pt x="19190" y="1315456"/>
                  </a:lnTo>
                  <a:lnTo>
                    <a:pt x="4961" y="1269645"/>
                  </a:lnTo>
                  <a:lnTo>
                    <a:pt x="0" y="1220470"/>
                  </a:lnTo>
                  <a:lnTo>
                    <a:pt x="0" y="244094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04135" y="3175000"/>
            <a:ext cx="1324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7275" algn="l"/>
              </a:tabLst>
            </a:pPr>
            <a:r>
              <a:rPr sz="1800" spc="-10" dirty="0">
                <a:latin typeface="Arial"/>
                <a:cs typeface="Arial"/>
              </a:rPr>
              <a:t>Métodos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1747" y="3175000"/>
            <a:ext cx="2894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84910" algn="l"/>
                <a:tab pos="1607185" algn="l"/>
                <a:tab pos="2639695" algn="l"/>
              </a:tabLst>
            </a:pPr>
            <a:r>
              <a:rPr sz="1800" spc="-10" dirty="0">
                <a:latin typeface="Arial"/>
                <a:cs typeface="Arial"/>
              </a:rPr>
              <a:t>desarrollo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de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software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04135" y="3449320"/>
            <a:ext cx="43624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centran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principalmente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programación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409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apenas</a:t>
            </a:r>
            <a:r>
              <a:rPr sz="1800" spc="41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tienen</a:t>
            </a:r>
            <a:r>
              <a:rPr sz="1800" spc="409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vinculación</a:t>
            </a:r>
            <a:r>
              <a:rPr sz="1800" spc="41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415" dirty="0">
                <a:latin typeface="Arial"/>
                <a:cs typeface="Arial"/>
              </a:rPr>
              <a:t>  </a:t>
            </a:r>
            <a:r>
              <a:rPr sz="1800" spc="-25" dirty="0">
                <a:latin typeface="Arial"/>
                <a:cs typeface="Arial"/>
              </a:rPr>
              <a:t>el </a:t>
            </a:r>
            <a:r>
              <a:rPr sz="1800" dirty="0">
                <a:latin typeface="Arial"/>
                <a:cs typeface="Arial"/>
              </a:rPr>
              <a:t>despliegue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operaciones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00065" y="5129148"/>
            <a:ext cx="4674870" cy="981710"/>
            <a:chOff x="5600065" y="5129148"/>
            <a:chExt cx="4674870" cy="981710"/>
          </a:xfrm>
        </p:grpSpPr>
        <p:sp>
          <p:nvSpPr>
            <p:cNvPr id="16" name="object 16"/>
            <p:cNvSpPr/>
            <p:nvPr/>
          </p:nvSpPr>
          <p:spPr>
            <a:xfrm>
              <a:off x="5606415" y="5135498"/>
              <a:ext cx="4662170" cy="969010"/>
            </a:xfrm>
            <a:custGeom>
              <a:avLst/>
              <a:gdLst/>
              <a:ahLst/>
              <a:cxnLst/>
              <a:rect l="l" t="t" r="r" b="b"/>
              <a:pathLst>
                <a:path w="4662170" h="969010">
                  <a:moveTo>
                    <a:pt x="4500499" y="0"/>
                  </a:moveTo>
                  <a:lnTo>
                    <a:pt x="161417" y="0"/>
                  </a:lnTo>
                  <a:lnTo>
                    <a:pt x="118503" y="5765"/>
                  </a:lnTo>
                  <a:lnTo>
                    <a:pt x="79944" y="22036"/>
                  </a:lnTo>
                  <a:lnTo>
                    <a:pt x="47275" y="47275"/>
                  </a:lnTo>
                  <a:lnTo>
                    <a:pt x="22036" y="79944"/>
                  </a:lnTo>
                  <a:lnTo>
                    <a:pt x="5765" y="118503"/>
                  </a:lnTo>
                  <a:lnTo>
                    <a:pt x="0" y="161416"/>
                  </a:lnTo>
                  <a:lnTo>
                    <a:pt x="0" y="807085"/>
                  </a:lnTo>
                  <a:lnTo>
                    <a:pt x="5765" y="849993"/>
                  </a:lnTo>
                  <a:lnTo>
                    <a:pt x="22036" y="888552"/>
                  </a:lnTo>
                  <a:lnTo>
                    <a:pt x="47275" y="921221"/>
                  </a:lnTo>
                  <a:lnTo>
                    <a:pt x="79944" y="946462"/>
                  </a:lnTo>
                  <a:lnTo>
                    <a:pt x="118503" y="962735"/>
                  </a:lnTo>
                  <a:lnTo>
                    <a:pt x="161417" y="968501"/>
                  </a:lnTo>
                  <a:lnTo>
                    <a:pt x="4500499" y="968501"/>
                  </a:lnTo>
                  <a:lnTo>
                    <a:pt x="4543412" y="962735"/>
                  </a:lnTo>
                  <a:lnTo>
                    <a:pt x="4581971" y="946462"/>
                  </a:lnTo>
                  <a:lnTo>
                    <a:pt x="4614640" y="921221"/>
                  </a:lnTo>
                  <a:lnTo>
                    <a:pt x="4639879" y="888552"/>
                  </a:lnTo>
                  <a:lnTo>
                    <a:pt x="4656150" y="849993"/>
                  </a:lnTo>
                  <a:lnTo>
                    <a:pt x="4661916" y="807085"/>
                  </a:lnTo>
                  <a:lnTo>
                    <a:pt x="4661916" y="161416"/>
                  </a:lnTo>
                  <a:lnTo>
                    <a:pt x="4656150" y="118503"/>
                  </a:lnTo>
                  <a:lnTo>
                    <a:pt x="4639879" y="79944"/>
                  </a:lnTo>
                  <a:lnTo>
                    <a:pt x="4614640" y="47275"/>
                  </a:lnTo>
                  <a:lnTo>
                    <a:pt x="4581971" y="22036"/>
                  </a:lnTo>
                  <a:lnTo>
                    <a:pt x="4543412" y="5765"/>
                  </a:lnTo>
                  <a:lnTo>
                    <a:pt x="4500499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6415" y="5135498"/>
              <a:ext cx="4662170" cy="969010"/>
            </a:xfrm>
            <a:custGeom>
              <a:avLst/>
              <a:gdLst/>
              <a:ahLst/>
              <a:cxnLst/>
              <a:rect l="l" t="t" r="r" b="b"/>
              <a:pathLst>
                <a:path w="4662170" h="969010">
                  <a:moveTo>
                    <a:pt x="0" y="161416"/>
                  </a:moveTo>
                  <a:lnTo>
                    <a:pt x="5765" y="118503"/>
                  </a:lnTo>
                  <a:lnTo>
                    <a:pt x="22036" y="79944"/>
                  </a:lnTo>
                  <a:lnTo>
                    <a:pt x="47275" y="47275"/>
                  </a:lnTo>
                  <a:lnTo>
                    <a:pt x="79944" y="22036"/>
                  </a:lnTo>
                  <a:lnTo>
                    <a:pt x="118503" y="5765"/>
                  </a:lnTo>
                  <a:lnTo>
                    <a:pt x="161417" y="0"/>
                  </a:lnTo>
                  <a:lnTo>
                    <a:pt x="4500499" y="0"/>
                  </a:lnTo>
                  <a:lnTo>
                    <a:pt x="4543412" y="5765"/>
                  </a:lnTo>
                  <a:lnTo>
                    <a:pt x="4581971" y="22036"/>
                  </a:lnTo>
                  <a:lnTo>
                    <a:pt x="4614640" y="47275"/>
                  </a:lnTo>
                  <a:lnTo>
                    <a:pt x="4639879" y="79944"/>
                  </a:lnTo>
                  <a:lnTo>
                    <a:pt x="4656150" y="118503"/>
                  </a:lnTo>
                  <a:lnTo>
                    <a:pt x="4661916" y="161416"/>
                  </a:lnTo>
                  <a:lnTo>
                    <a:pt x="4661916" y="807085"/>
                  </a:lnTo>
                  <a:lnTo>
                    <a:pt x="4656150" y="849993"/>
                  </a:lnTo>
                  <a:lnTo>
                    <a:pt x="4639879" y="888552"/>
                  </a:lnTo>
                  <a:lnTo>
                    <a:pt x="4614640" y="921221"/>
                  </a:lnTo>
                  <a:lnTo>
                    <a:pt x="4581971" y="946462"/>
                  </a:lnTo>
                  <a:lnTo>
                    <a:pt x="4543412" y="962735"/>
                  </a:lnTo>
                  <a:lnTo>
                    <a:pt x="4500499" y="968501"/>
                  </a:lnTo>
                  <a:lnTo>
                    <a:pt x="161417" y="968501"/>
                  </a:lnTo>
                  <a:lnTo>
                    <a:pt x="118503" y="962735"/>
                  </a:lnTo>
                  <a:lnTo>
                    <a:pt x="79944" y="946462"/>
                  </a:lnTo>
                  <a:lnTo>
                    <a:pt x="47275" y="921221"/>
                  </a:lnTo>
                  <a:lnTo>
                    <a:pt x="22036" y="888552"/>
                  </a:lnTo>
                  <a:lnTo>
                    <a:pt x="5765" y="849993"/>
                  </a:lnTo>
                  <a:lnTo>
                    <a:pt x="0" y="807085"/>
                  </a:lnTo>
                  <a:lnTo>
                    <a:pt x="0" y="16141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32779" y="5189728"/>
            <a:ext cx="44100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DevOps</a:t>
            </a:r>
            <a:r>
              <a:rPr sz="1800" spc="1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trata</a:t>
            </a:r>
            <a:r>
              <a:rPr sz="1800" spc="16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de</a:t>
            </a:r>
            <a:r>
              <a:rPr sz="1800" spc="16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adaptar</a:t>
            </a:r>
            <a:r>
              <a:rPr sz="1800" spc="16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e</a:t>
            </a:r>
            <a:r>
              <a:rPr sz="1800" spc="16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innovar</a:t>
            </a:r>
            <a:r>
              <a:rPr sz="1800" spc="165" dirty="0">
                <a:latin typeface="Arial"/>
                <a:cs typeface="Arial"/>
              </a:rPr>
              <a:t>  </a:t>
            </a:r>
            <a:r>
              <a:rPr sz="1800" spc="-25" dirty="0">
                <a:latin typeface="Arial"/>
                <a:cs typeface="Arial"/>
              </a:rPr>
              <a:t>la </a:t>
            </a:r>
            <a:r>
              <a:rPr sz="1800" dirty="0">
                <a:latin typeface="Arial"/>
                <a:cs typeface="Arial"/>
              </a:rPr>
              <a:t>estructura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social,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cultura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tecnología </a:t>
            </a:r>
            <a:r>
              <a:rPr sz="1800" dirty="0">
                <a:latin typeface="Arial"/>
                <a:cs typeface="Arial"/>
              </a:rPr>
              <a:t>para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trabajar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más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eficazmente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-10719"/>
            <a:ext cx="4488815" cy="1572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8025" marR="5080" indent="-695960">
              <a:lnSpc>
                <a:spcPct val="158600"/>
              </a:lnSpc>
              <a:spcBef>
                <a:spcPts val="100"/>
              </a:spcBef>
            </a:pPr>
            <a:r>
              <a:rPr dirty="0"/>
              <a:t>3. </a:t>
            </a:r>
            <a:r>
              <a:rPr spc="-1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Mentalidad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8011" y="2155063"/>
            <a:ext cx="4344670" cy="2995930"/>
            <a:chOff x="1358011" y="2155063"/>
            <a:chExt cx="4344670" cy="2995930"/>
          </a:xfrm>
        </p:grpSpPr>
        <p:sp>
          <p:nvSpPr>
            <p:cNvPr id="4" name="object 4"/>
            <p:cNvSpPr/>
            <p:nvPr/>
          </p:nvSpPr>
          <p:spPr>
            <a:xfrm>
              <a:off x="1364361" y="2161413"/>
              <a:ext cx="4331970" cy="2983230"/>
            </a:xfrm>
            <a:custGeom>
              <a:avLst/>
              <a:gdLst/>
              <a:ahLst/>
              <a:cxnLst/>
              <a:rect l="l" t="t" r="r" b="b"/>
              <a:pathLst>
                <a:path w="4331970" h="2983229">
                  <a:moveTo>
                    <a:pt x="2840354" y="0"/>
                  </a:moveTo>
                  <a:lnTo>
                    <a:pt x="2840354" y="745744"/>
                  </a:lnTo>
                  <a:lnTo>
                    <a:pt x="0" y="745744"/>
                  </a:lnTo>
                  <a:lnTo>
                    <a:pt x="0" y="2237486"/>
                  </a:lnTo>
                  <a:lnTo>
                    <a:pt x="2840354" y="2237486"/>
                  </a:lnTo>
                  <a:lnTo>
                    <a:pt x="2840354" y="2983230"/>
                  </a:lnTo>
                  <a:lnTo>
                    <a:pt x="4331970" y="1491614"/>
                  </a:lnTo>
                  <a:lnTo>
                    <a:pt x="2840354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4361" y="2161413"/>
              <a:ext cx="4331970" cy="2983230"/>
            </a:xfrm>
            <a:custGeom>
              <a:avLst/>
              <a:gdLst/>
              <a:ahLst/>
              <a:cxnLst/>
              <a:rect l="l" t="t" r="r" b="b"/>
              <a:pathLst>
                <a:path w="4331970" h="2983229">
                  <a:moveTo>
                    <a:pt x="0" y="745744"/>
                  </a:moveTo>
                  <a:lnTo>
                    <a:pt x="2840354" y="745744"/>
                  </a:lnTo>
                  <a:lnTo>
                    <a:pt x="2840354" y="0"/>
                  </a:lnTo>
                  <a:lnTo>
                    <a:pt x="4331970" y="1491614"/>
                  </a:lnTo>
                  <a:lnTo>
                    <a:pt x="2840354" y="2983230"/>
                  </a:lnTo>
                  <a:lnTo>
                    <a:pt x="2840354" y="2237486"/>
                  </a:lnTo>
                  <a:lnTo>
                    <a:pt x="0" y="2237486"/>
                  </a:lnTo>
                  <a:lnTo>
                    <a:pt x="0" y="745744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2974" y="3037585"/>
            <a:ext cx="3212465" cy="121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Perspectiva</a:t>
            </a:r>
            <a:r>
              <a:rPr sz="2400" b="1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Anterior</a:t>
            </a: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Elimina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el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error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humano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800" spc="-10" dirty="0">
                <a:latin typeface="Arial"/>
                <a:cs typeface="Arial"/>
              </a:rPr>
              <a:t>Silos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Cultura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culpabilidad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47765" y="2155063"/>
            <a:ext cx="4796790" cy="2995930"/>
            <a:chOff x="6247765" y="2155063"/>
            <a:chExt cx="4796790" cy="2995930"/>
          </a:xfrm>
        </p:grpSpPr>
        <p:sp>
          <p:nvSpPr>
            <p:cNvPr id="8" name="object 8"/>
            <p:cNvSpPr/>
            <p:nvPr/>
          </p:nvSpPr>
          <p:spPr>
            <a:xfrm>
              <a:off x="6254115" y="2161413"/>
              <a:ext cx="4784090" cy="2983230"/>
            </a:xfrm>
            <a:custGeom>
              <a:avLst/>
              <a:gdLst/>
              <a:ahLst/>
              <a:cxnLst/>
              <a:rect l="l" t="t" r="r" b="b"/>
              <a:pathLst>
                <a:path w="4784090" h="2983229">
                  <a:moveTo>
                    <a:pt x="1491614" y="0"/>
                  </a:moveTo>
                  <a:lnTo>
                    <a:pt x="0" y="1491614"/>
                  </a:lnTo>
                  <a:lnTo>
                    <a:pt x="1491614" y="2983230"/>
                  </a:lnTo>
                  <a:lnTo>
                    <a:pt x="1491614" y="2237486"/>
                  </a:lnTo>
                  <a:lnTo>
                    <a:pt x="4783836" y="2237486"/>
                  </a:lnTo>
                  <a:lnTo>
                    <a:pt x="4783836" y="745744"/>
                  </a:lnTo>
                  <a:lnTo>
                    <a:pt x="1491614" y="745744"/>
                  </a:lnTo>
                  <a:lnTo>
                    <a:pt x="1491614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54115" y="2161413"/>
              <a:ext cx="4784090" cy="2983230"/>
            </a:xfrm>
            <a:custGeom>
              <a:avLst/>
              <a:gdLst/>
              <a:ahLst/>
              <a:cxnLst/>
              <a:rect l="l" t="t" r="r" b="b"/>
              <a:pathLst>
                <a:path w="4784090" h="2983229">
                  <a:moveTo>
                    <a:pt x="4783836" y="745744"/>
                  </a:moveTo>
                  <a:lnTo>
                    <a:pt x="1491614" y="745744"/>
                  </a:lnTo>
                  <a:lnTo>
                    <a:pt x="1491614" y="0"/>
                  </a:lnTo>
                  <a:lnTo>
                    <a:pt x="0" y="1491614"/>
                  </a:lnTo>
                  <a:lnTo>
                    <a:pt x="1491614" y="2983230"/>
                  </a:lnTo>
                  <a:lnTo>
                    <a:pt x="1491614" y="2237486"/>
                  </a:lnTo>
                  <a:lnTo>
                    <a:pt x="4783836" y="2237486"/>
                  </a:lnTo>
                  <a:lnTo>
                    <a:pt x="4783836" y="745744"/>
                  </a:lnTo>
                  <a:close/>
                </a:path>
              </a:pathLst>
            </a:custGeom>
            <a:ln w="1269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078471" y="2854198"/>
            <a:ext cx="3308350" cy="158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015" marR="5080" indent="-67945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Perspectiva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Arial"/>
                <a:cs typeface="Arial"/>
              </a:rPr>
              <a:t>Nueva </a:t>
            </a:r>
            <a:r>
              <a:rPr sz="2400" b="1" spc="-10" dirty="0">
                <a:solidFill>
                  <a:srgbClr val="FF0000"/>
                </a:solidFill>
                <a:latin typeface="Arial"/>
                <a:cs typeface="Arial"/>
              </a:rPr>
              <a:t>(DevOps)</a:t>
            </a:r>
            <a:endParaRPr sz="2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20"/>
              </a:spcBef>
              <a:buChar char="•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Holistica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sistemas/métodos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Compartir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historias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feedback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800" spc="-10" dirty="0">
                <a:latin typeface="Arial"/>
                <a:cs typeface="Arial"/>
              </a:rPr>
              <a:t>Valorar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individuos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2619" y="275589"/>
            <a:ext cx="35229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dirty="0">
                <a:latin typeface="Arial"/>
                <a:cs typeface="Arial"/>
              </a:rPr>
              <a:t>3. </a:t>
            </a:r>
            <a:r>
              <a:rPr sz="3200" b="1" spc="-10" dirty="0">
                <a:latin typeface="Arial"/>
                <a:cs typeface="Arial"/>
              </a:rPr>
              <a:t>Transformación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73862" y="914146"/>
            <a:ext cx="60902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alineación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Lean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Scrum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884" y="1682750"/>
            <a:ext cx="9754108" cy="511772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83931" y="1804161"/>
            <a:ext cx="27019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</a:tabLst>
            </a:pPr>
            <a:r>
              <a:rPr sz="1600" dirty="0">
                <a:latin typeface="Arial"/>
                <a:cs typeface="Arial"/>
              </a:rPr>
              <a:t>Mejora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Continua</a:t>
            </a:r>
            <a:endParaRPr sz="16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600" dirty="0">
                <a:latin typeface="Arial"/>
                <a:cs typeface="Arial"/>
              </a:rPr>
              <a:t>Eliminación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actividades innecesarias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5423" y="2422905"/>
            <a:ext cx="2178050" cy="2061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4595">
              <a:lnSpc>
                <a:spcPct val="100000"/>
              </a:lnSpc>
              <a:spcBef>
                <a:spcPts val="100"/>
              </a:spcBef>
            </a:pPr>
            <a:r>
              <a:rPr sz="3400" spc="-20" dirty="0">
                <a:solidFill>
                  <a:srgbClr val="FFFFFF"/>
                </a:solidFill>
                <a:latin typeface="Arial"/>
                <a:cs typeface="Arial"/>
              </a:rPr>
              <a:t>Lean</a:t>
            </a: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400" spc="-10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endParaRPr sz="3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9188" y="5184140"/>
            <a:ext cx="263842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98120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sz="1600" dirty="0">
                <a:latin typeface="Arial"/>
                <a:cs typeface="Arial"/>
              </a:rPr>
              <a:t>Reactivo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las </a:t>
            </a:r>
            <a:r>
              <a:rPr sz="1600" dirty="0">
                <a:latin typeface="Arial"/>
                <a:cs typeface="Arial"/>
              </a:rPr>
              <a:t>necesidades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cambio</a:t>
            </a:r>
            <a:endParaRPr sz="16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dirty="0">
                <a:latin typeface="Arial"/>
                <a:cs typeface="Arial"/>
              </a:rPr>
              <a:t>Acortar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plazos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de</a:t>
            </a:r>
            <a:r>
              <a:rPr sz="1600" spc="-10" dirty="0">
                <a:latin typeface="Arial"/>
                <a:cs typeface="Arial"/>
              </a:rPr>
              <a:t> entrega</a:t>
            </a:r>
            <a:endParaRPr sz="16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Char char="•"/>
              <a:tabLst>
                <a:tab pos="297815" algn="l"/>
              </a:tabLst>
            </a:pPr>
            <a:r>
              <a:rPr sz="1600" spc="-10" dirty="0">
                <a:latin typeface="Arial"/>
                <a:cs typeface="Arial"/>
              </a:rPr>
              <a:t>Colaboración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75653" y="5025135"/>
            <a:ext cx="158623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solidFill>
                  <a:srgbClr val="FFFFFF"/>
                </a:solidFill>
                <a:latin typeface="Arial"/>
                <a:cs typeface="Arial"/>
              </a:rPr>
              <a:t>DevOps</a:t>
            </a:r>
            <a:endParaRPr sz="3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862" y="914146"/>
            <a:ext cx="59150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Pilares</a:t>
            </a:r>
            <a:r>
              <a:rPr sz="32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para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implantar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5577" y="1955292"/>
            <a:ext cx="9801225" cy="3965575"/>
            <a:chOff x="1195577" y="1955292"/>
            <a:chExt cx="9801225" cy="3965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5577" y="1955292"/>
              <a:ext cx="1266444" cy="39166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29977" y="2003298"/>
              <a:ext cx="1266444" cy="39174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462402" y="1985391"/>
              <a:ext cx="7268209" cy="3785870"/>
            </a:xfrm>
            <a:custGeom>
              <a:avLst/>
              <a:gdLst/>
              <a:ahLst/>
              <a:cxnLst/>
              <a:rect l="l" t="t" r="r" b="b"/>
              <a:pathLst>
                <a:path w="7268209" h="3785870">
                  <a:moveTo>
                    <a:pt x="7267956" y="0"/>
                  </a:moveTo>
                  <a:lnTo>
                    <a:pt x="0" y="0"/>
                  </a:lnTo>
                  <a:lnTo>
                    <a:pt x="0" y="3785615"/>
                  </a:lnTo>
                  <a:lnTo>
                    <a:pt x="7267956" y="3785615"/>
                  </a:lnTo>
                  <a:lnTo>
                    <a:pt x="7267956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62402" y="1985391"/>
              <a:ext cx="7268209" cy="3785870"/>
            </a:xfrm>
            <a:custGeom>
              <a:avLst/>
              <a:gdLst/>
              <a:ahLst/>
              <a:cxnLst/>
              <a:rect l="l" t="t" r="r" b="b"/>
              <a:pathLst>
                <a:path w="7268209" h="3785870">
                  <a:moveTo>
                    <a:pt x="0" y="3785615"/>
                  </a:moveTo>
                  <a:lnTo>
                    <a:pt x="7267956" y="3785615"/>
                  </a:lnTo>
                  <a:lnTo>
                    <a:pt x="7267956" y="0"/>
                  </a:lnTo>
                  <a:lnTo>
                    <a:pt x="0" y="0"/>
                  </a:lnTo>
                  <a:lnTo>
                    <a:pt x="0" y="378561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Colaboración</a:t>
            </a:r>
          </a:p>
          <a:p>
            <a:pPr marL="248285" marR="240029" algn="ctr">
              <a:lnSpc>
                <a:spcPct val="100000"/>
              </a:lnSpc>
              <a:spcBef>
                <a:spcPts val="20"/>
              </a:spcBef>
            </a:pPr>
            <a:r>
              <a:rPr sz="1800" b="0" spc="-25" dirty="0">
                <a:latin typeface="Arial"/>
                <a:cs typeface="Arial"/>
              </a:rPr>
              <a:t>Todos</a:t>
            </a:r>
            <a:r>
              <a:rPr sz="1800" b="0" spc="-2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los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departamentos</a:t>
            </a:r>
            <a:r>
              <a:rPr sz="1800" b="0" spc="-3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contribuyen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a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las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soluciones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TI</a:t>
            </a:r>
            <a:r>
              <a:rPr sz="1800" b="0" spc="-20" dirty="0">
                <a:latin typeface="Arial"/>
                <a:cs typeface="Arial"/>
              </a:rPr>
              <a:t> </a:t>
            </a:r>
            <a:r>
              <a:rPr sz="1800" b="0" spc="-25" dirty="0">
                <a:latin typeface="Arial"/>
                <a:cs typeface="Arial"/>
              </a:rPr>
              <a:t>del </a:t>
            </a:r>
            <a:r>
              <a:rPr sz="1800" b="0" spc="-10" dirty="0">
                <a:latin typeface="Arial"/>
                <a:cs typeface="Arial"/>
              </a:rPr>
              <a:t>negocio</a:t>
            </a:r>
            <a:endParaRPr sz="1800">
              <a:latin typeface="Arial"/>
              <a:cs typeface="Arial"/>
            </a:endParaRPr>
          </a:p>
          <a:p>
            <a:pPr marL="1905" algn="ctr">
              <a:lnSpc>
                <a:spcPts val="2860"/>
              </a:lnSpc>
            </a:pPr>
            <a:r>
              <a:rPr spc="-10" dirty="0"/>
              <a:t>Afinidad</a:t>
            </a:r>
          </a:p>
          <a:p>
            <a:pPr marL="387350" marR="380365" algn="ctr">
              <a:lnSpc>
                <a:spcPct val="100000"/>
              </a:lnSpc>
              <a:spcBef>
                <a:spcPts val="20"/>
              </a:spcBef>
            </a:pPr>
            <a:r>
              <a:rPr sz="1800" b="0" spc="-25" dirty="0">
                <a:latin typeface="Arial"/>
                <a:cs typeface="Arial"/>
              </a:rPr>
              <a:t>Todas</a:t>
            </a:r>
            <a:r>
              <a:rPr sz="1800" b="0" spc="-2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las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áreas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IT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tienen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metas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compartidas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y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los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spc="-10" dirty="0">
                <a:latin typeface="Arial"/>
                <a:cs typeface="Arial"/>
              </a:rPr>
              <a:t>grupos </a:t>
            </a:r>
            <a:r>
              <a:rPr sz="1800" b="0" dirty="0">
                <a:latin typeface="Arial"/>
                <a:cs typeface="Arial"/>
              </a:rPr>
              <a:t>empatizan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en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su</a:t>
            </a:r>
            <a:r>
              <a:rPr sz="1800" b="0" spc="-10" dirty="0">
                <a:latin typeface="Arial"/>
                <a:cs typeface="Arial"/>
              </a:rPr>
              <a:t> consecución</a:t>
            </a:r>
            <a:endParaRPr sz="1800">
              <a:latin typeface="Arial"/>
              <a:cs typeface="Arial"/>
            </a:endParaRPr>
          </a:p>
          <a:p>
            <a:pPr marL="1270" algn="ctr">
              <a:lnSpc>
                <a:spcPts val="2860"/>
              </a:lnSpc>
            </a:pPr>
            <a:r>
              <a:rPr spc="-10" dirty="0"/>
              <a:t>Herramientas</a:t>
            </a:r>
          </a:p>
          <a:p>
            <a:pPr marL="569595" marR="563880" algn="ctr">
              <a:lnSpc>
                <a:spcPct val="100000"/>
              </a:lnSpc>
              <a:spcBef>
                <a:spcPts val="15"/>
              </a:spcBef>
            </a:pPr>
            <a:r>
              <a:rPr sz="1800" b="0" dirty="0">
                <a:latin typeface="Arial"/>
                <a:cs typeface="Arial"/>
              </a:rPr>
              <a:t>El</a:t>
            </a:r>
            <a:r>
              <a:rPr sz="1800" b="0" spc="-2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uso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efectivo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las</a:t>
            </a:r>
            <a:r>
              <a:rPr sz="1800" b="0" spc="-2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herramientas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resulta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crucial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para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spc="-25" dirty="0">
                <a:latin typeface="Arial"/>
                <a:cs typeface="Arial"/>
              </a:rPr>
              <a:t>la </a:t>
            </a:r>
            <a:r>
              <a:rPr sz="1800" b="0" dirty="0">
                <a:latin typeface="Arial"/>
                <a:cs typeface="Arial"/>
              </a:rPr>
              <a:t>implantación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exitosa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DevOps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pero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no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es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lo</a:t>
            </a:r>
            <a:r>
              <a:rPr sz="1800" b="0" spc="-10" dirty="0">
                <a:latin typeface="Arial"/>
                <a:cs typeface="Arial"/>
              </a:rPr>
              <a:t> único</a:t>
            </a:r>
            <a:endParaRPr sz="1800">
              <a:latin typeface="Arial"/>
              <a:cs typeface="Arial"/>
            </a:endParaRPr>
          </a:p>
          <a:p>
            <a:pPr marL="1905" algn="ctr">
              <a:lnSpc>
                <a:spcPts val="2860"/>
              </a:lnSpc>
            </a:pPr>
            <a:r>
              <a:rPr spc="-10" dirty="0"/>
              <a:t>Escalado</a:t>
            </a:r>
          </a:p>
          <a:p>
            <a:pPr marL="11430" marR="5080" algn="ctr">
              <a:lnSpc>
                <a:spcPct val="100000"/>
              </a:lnSpc>
              <a:spcBef>
                <a:spcPts val="20"/>
              </a:spcBef>
            </a:pPr>
            <a:r>
              <a:rPr sz="1800" b="0" dirty="0">
                <a:latin typeface="Arial"/>
                <a:cs typeface="Arial"/>
              </a:rPr>
              <a:t>DevOps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puede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aplicarse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a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organizaciones</a:t>
            </a:r>
            <a:r>
              <a:rPr sz="1800" b="0" spc="-4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cualquier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tamaño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y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spc="-25" dirty="0">
                <a:latin typeface="Arial"/>
                <a:cs typeface="Arial"/>
              </a:rPr>
              <a:t>se </a:t>
            </a:r>
            <a:r>
              <a:rPr sz="1800" b="0" dirty="0">
                <a:latin typeface="Arial"/>
                <a:cs typeface="Arial"/>
              </a:rPr>
              <a:t>adapta</a:t>
            </a:r>
            <a:r>
              <a:rPr sz="1800" b="0" spc="-1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a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los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posibles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crecimientos</a:t>
            </a:r>
            <a:r>
              <a:rPr sz="1800" b="0" spc="-2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y</a:t>
            </a:r>
            <a:r>
              <a:rPr sz="1800" b="0" spc="-1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reducciones</a:t>
            </a:r>
            <a:r>
              <a:rPr sz="1800" b="0" spc="-30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de</a:t>
            </a:r>
            <a:r>
              <a:rPr sz="1800" b="0" spc="-10" dirty="0">
                <a:latin typeface="Arial"/>
                <a:cs typeface="Arial"/>
              </a:rPr>
              <a:t> negocio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2619" y="124503"/>
            <a:ext cx="3823970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31750">
              <a:lnSpc>
                <a:spcPct val="131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Mentalidad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158" y="2091689"/>
            <a:ext cx="4522470" cy="29230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05483" y="1794510"/>
            <a:ext cx="51174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Mentalidad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fija:</a:t>
            </a:r>
            <a:r>
              <a:rPr sz="2000" b="1" spc="-10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Talento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habilidades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innatos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73973" y="2424938"/>
            <a:ext cx="2901950" cy="2526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DevOps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busca:</a:t>
            </a:r>
            <a:endParaRPr sz="20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297815" algn="l"/>
              </a:tabLst>
            </a:pPr>
            <a:r>
              <a:rPr sz="1800" b="1" dirty="0">
                <a:latin typeface="Arial"/>
                <a:cs typeface="Arial"/>
              </a:rPr>
              <a:t>Aprender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los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errores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800" b="1" dirty="0">
                <a:latin typeface="Arial"/>
                <a:cs typeface="Arial"/>
              </a:rPr>
              <a:t>No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culpar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800" b="1" spc="-10" dirty="0">
                <a:latin typeface="Arial"/>
                <a:cs typeface="Arial"/>
              </a:rPr>
              <a:t>Retroalimentación</a:t>
            </a:r>
            <a:endParaRPr sz="1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•"/>
              <a:tabLst>
                <a:tab pos="755015" algn="l"/>
              </a:tabLst>
            </a:pPr>
            <a:r>
              <a:rPr sz="1800" b="1" spc="-10" dirty="0">
                <a:latin typeface="Arial"/>
                <a:cs typeface="Arial"/>
              </a:rPr>
              <a:t>Positiva</a:t>
            </a:r>
            <a:endParaRPr sz="1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•"/>
              <a:tabLst>
                <a:tab pos="755015" algn="l"/>
              </a:tabLst>
            </a:pPr>
            <a:r>
              <a:rPr sz="1800" b="1" spc="-10" dirty="0">
                <a:latin typeface="Arial"/>
                <a:cs typeface="Arial"/>
              </a:rPr>
              <a:t>Frecuente</a:t>
            </a:r>
            <a:endParaRPr sz="1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Font typeface="Arial"/>
              <a:buChar char="•"/>
              <a:tabLst>
                <a:tab pos="755015" algn="l"/>
              </a:tabLst>
            </a:pPr>
            <a:r>
              <a:rPr sz="1800" b="1" spc="-10" dirty="0">
                <a:latin typeface="Arial"/>
                <a:cs typeface="Arial"/>
              </a:rPr>
              <a:t>Constructiva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800" b="1" spc="-10" dirty="0">
                <a:latin typeface="Arial"/>
                <a:cs typeface="Arial"/>
              </a:rPr>
              <a:t>Comunicación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sz="1800" b="1" spc="-10" dirty="0">
                <a:latin typeface="Arial"/>
                <a:cs typeface="Arial"/>
              </a:rPr>
              <a:t>Escucha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5861" y="5038597"/>
            <a:ext cx="3785235" cy="880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Arial"/>
                <a:cs typeface="Arial"/>
              </a:rPr>
              <a:t>Mentalidad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crecimiento: </a:t>
            </a:r>
            <a:r>
              <a:rPr sz="1800" spc="-25" dirty="0">
                <a:latin typeface="Arial"/>
                <a:cs typeface="Arial"/>
              </a:rPr>
              <a:t>Talento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habilidades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aprendidas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mejoradas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</a:t>
            </a:r>
            <a:r>
              <a:rPr sz="1800" spc="-10" dirty="0">
                <a:latin typeface="Arial"/>
                <a:cs typeface="Arial"/>
              </a:rPr>
              <a:t> práctica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862" y="914146"/>
            <a:ext cx="61163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Cultura</a:t>
            </a:r>
            <a:r>
              <a:rPr sz="3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Organizacional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327" y="1922652"/>
            <a:ext cx="3948430" cy="36581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059683" y="2441448"/>
            <a:ext cx="10007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Arial"/>
                <a:cs typeface="Arial"/>
              </a:rPr>
              <a:t>Colaboración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3983" y="3726941"/>
            <a:ext cx="77089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Arial"/>
                <a:cs typeface="Arial"/>
              </a:rPr>
              <a:t>Confianza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95244" y="3564890"/>
            <a:ext cx="928369" cy="53594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 indent="6350">
              <a:lnSpc>
                <a:spcPts val="1860"/>
              </a:lnSpc>
              <a:spcBef>
                <a:spcPts val="409"/>
              </a:spcBef>
            </a:pPr>
            <a:r>
              <a:rPr sz="1800" spc="-10" dirty="0">
                <a:latin typeface="Arial"/>
                <a:cs typeface="Arial"/>
              </a:rPr>
              <a:t>Alcanzar objetivos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21302" y="3611371"/>
            <a:ext cx="957580" cy="451484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34620" marR="5080" indent="-121920">
              <a:lnSpc>
                <a:spcPts val="1550"/>
              </a:lnSpc>
              <a:spcBef>
                <a:spcPts val="359"/>
              </a:spcBef>
            </a:pPr>
            <a:r>
              <a:rPr sz="1500" spc="-10" dirty="0">
                <a:latin typeface="Arial"/>
                <a:cs typeface="Arial"/>
              </a:rPr>
              <a:t>Mentalidad DevOps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2272" y="4890261"/>
            <a:ext cx="7346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Arial"/>
                <a:cs typeface="Arial"/>
              </a:rPr>
              <a:t>Empatía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1991" y="1713102"/>
            <a:ext cx="3636009" cy="343255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599171" y="2286762"/>
            <a:ext cx="150114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900"/>
              </a:lnSpc>
              <a:spcBef>
                <a:spcPts val="95"/>
              </a:spcBef>
            </a:pPr>
            <a:r>
              <a:rPr sz="1700" dirty="0">
                <a:latin typeface="Arial"/>
                <a:cs typeface="Arial"/>
              </a:rPr>
              <a:t>Desarrollo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(Ing.</a:t>
            </a:r>
            <a:endParaRPr sz="1700">
              <a:latin typeface="Arial"/>
              <a:cs typeface="Arial"/>
            </a:endParaRPr>
          </a:p>
          <a:p>
            <a:pPr marL="635" algn="ctr">
              <a:lnSpc>
                <a:spcPts val="1900"/>
              </a:lnSpc>
            </a:pPr>
            <a:r>
              <a:rPr sz="1700" dirty="0">
                <a:latin typeface="Arial"/>
                <a:cs typeface="Arial"/>
              </a:rPr>
              <a:t>De</a:t>
            </a:r>
            <a:r>
              <a:rPr sz="1700" spc="-3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Software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12683" y="3457702"/>
            <a:ext cx="6673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DevOps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44207" y="3771138"/>
            <a:ext cx="1246505" cy="73152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ct val="86300"/>
              </a:lnSpc>
              <a:spcBef>
                <a:spcPts val="375"/>
              </a:spcBef>
            </a:pPr>
            <a:r>
              <a:rPr sz="1700" spc="-10" dirty="0">
                <a:latin typeface="Arial"/>
                <a:cs typeface="Arial"/>
              </a:rPr>
              <a:t>Operaciones </a:t>
            </a:r>
            <a:r>
              <a:rPr sz="1700" spc="-25" dirty="0">
                <a:latin typeface="Arial"/>
                <a:cs typeface="Arial"/>
              </a:rPr>
              <a:t>de </a:t>
            </a:r>
            <a:r>
              <a:rPr sz="1700" spc="-10" dirty="0">
                <a:latin typeface="Arial"/>
                <a:cs typeface="Arial"/>
              </a:rPr>
              <a:t>Tecnología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21673" y="3882897"/>
            <a:ext cx="1021080" cy="50800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44780" marR="5080" indent="-132715">
              <a:lnSpc>
                <a:spcPts val="1760"/>
              </a:lnSpc>
              <a:spcBef>
                <a:spcPts val="390"/>
              </a:spcBef>
            </a:pPr>
            <a:r>
              <a:rPr sz="1700" dirty="0">
                <a:latin typeface="Arial"/>
                <a:cs typeface="Arial"/>
              </a:rPr>
              <a:t>Seguro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de </a:t>
            </a:r>
            <a:r>
              <a:rPr sz="1700" spc="-10" dirty="0">
                <a:latin typeface="Arial"/>
                <a:cs typeface="Arial"/>
              </a:rPr>
              <a:t>Calidad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124503"/>
            <a:ext cx="3522979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31750">
              <a:lnSpc>
                <a:spcPct val="131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2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Roles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58975" y="2218944"/>
            <a:ext cx="477520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Process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Master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Service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Master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DevOps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Engineer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spc="-10" dirty="0">
                <a:latin typeface="Arial"/>
                <a:cs typeface="Arial"/>
              </a:rPr>
              <a:t>Gatekeeper/Release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coordinator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Reliability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Engineer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Operatom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Development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032" y="2506979"/>
            <a:ext cx="4652771" cy="23644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2619" y="124503"/>
            <a:ext cx="4297045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31750">
              <a:lnSpc>
                <a:spcPct val="131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Colaboración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8182" y="2408428"/>
            <a:ext cx="43643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Problema: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Algunas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no </a:t>
            </a:r>
            <a:r>
              <a:rPr sz="2400" dirty="0">
                <a:latin typeface="Arial"/>
                <a:cs typeface="Arial"/>
              </a:rPr>
              <a:t>están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asumiendo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posición 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Problema:</a:t>
            </a:r>
            <a:r>
              <a:rPr sz="2400" spc="-1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Algunas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personas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no </a:t>
            </a:r>
            <a:r>
              <a:rPr sz="2400" dirty="0">
                <a:latin typeface="Arial"/>
                <a:cs typeface="Arial"/>
              </a:rPr>
              <a:t>están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comunicando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suficiente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1166" y="1355598"/>
            <a:ext cx="4781549" cy="41468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124503"/>
            <a:ext cx="4297045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31750">
              <a:lnSpc>
                <a:spcPct val="131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Colaboración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8182" y="1748027"/>
            <a:ext cx="771017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Solución:</a:t>
            </a:r>
            <a:r>
              <a:rPr sz="20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Comprobar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competencias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y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permitir</a:t>
            </a:r>
            <a:r>
              <a:rPr sz="2000" b="1" spc="-8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aprendizaje </a:t>
            </a:r>
            <a:r>
              <a:rPr sz="2000" dirty="0">
                <a:latin typeface="Arial"/>
                <a:cs typeface="Arial"/>
              </a:rPr>
              <a:t>Averiguar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posibles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causas: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agotamiento,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problemas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personales,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etc.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Solución:</a:t>
            </a:r>
            <a:r>
              <a:rPr sz="20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Tratar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de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valorar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los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factores</a:t>
            </a:r>
            <a:r>
              <a:rPr sz="2000" b="1" spc="-7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subyacentes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Asegurar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confianza,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guiar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por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ejemplo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0685" y="2791205"/>
            <a:ext cx="4038600" cy="30731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862" y="914146"/>
            <a:ext cx="65405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Resolución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Conflictos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225" y="1751076"/>
            <a:ext cx="557085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Potenciar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valores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sobre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cultura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Compartir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historias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experiencias</a:t>
            </a:r>
            <a:endParaRPr sz="1800">
              <a:latin typeface="Arial"/>
              <a:cs typeface="Arial"/>
            </a:endParaRPr>
          </a:p>
          <a:p>
            <a:pPr marL="298450" marR="692150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Qué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tipos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problemas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estamos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tratando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de </a:t>
            </a:r>
            <a:r>
              <a:rPr sz="1800" spc="-10" dirty="0">
                <a:latin typeface="Arial"/>
                <a:cs typeface="Arial"/>
              </a:rPr>
              <a:t>resolver?</a:t>
            </a:r>
            <a:endParaRPr sz="18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Wingdings"/>
              <a:buChar char=""/>
              <a:tabLst>
                <a:tab pos="297815" algn="l"/>
              </a:tabLst>
            </a:pPr>
            <a:r>
              <a:rPr sz="1800" dirty="0">
                <a:latin typeface="Arial"/>
                <a:cs typeface="Arial"/>
              </a:rPr>
              <a:t>Estamos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resolviendo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problemas</a:t>
            </a:r>
            <a:r>
              <a:rPr sz="1800" spc="-10" dirty="0">
                <a:latin typeface="Arial"/>
                <a:cs typeface="Arial"/>
              </a:rPr>
              <a:t> correctamente?</a:t>
            </a:r>
            <a:endParaRPr sz="1800">
              <a:latin typeface="Arial"/>
              <a:cs typeface="Arial"/>
            </a:endParaRPr>
          </a:p>
          <a:p>
            <a:pPr marL="298450" marR="69215" indent="-285750">
              <a:lnSpc>
                <a:spcPct val="100000"/>
              </a:lnSpc>
              <a:buFont typeface="Wingdings"/>
              <a:buChar char=""/>
              <a:tabLst>
                <a:tab pos="298450" algn="l"/>
              </a:tabLst>
            </a:pPr>
            <a:r>
              <a:rPr sz="1800" dirty="0">
                <a:latin typeface="Arial"/>
                <a:cs typeface="Arial"/>
              </a:rPr>
              <a:t>Tiene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nuestro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equipo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el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conocimiento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la </a:t>
            </a:r>
            <a:r>
              <a:rPr sz="1800" dirty="0">
                <a:latin typeface="Arial"/>
                <a:cs typeface="Arial"/>
              </a:rPr>
              <a:t>experiencia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necesarios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para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reconocer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el</a:t>
            </a:r>
            <a:r>
              <a:rPr sz="1800" spc="-10" dirty="0">
                <a:latin typeface="Arial"/>
                <a:cs typeface="Arial"/>
              </a:rPr>
              <a:t> problema </a:t>
            </a:r>
            <a:r>
              <a:rPr sz="1800" dirty="0">
                <a:latin typeface="Arial"/>
                <a:cs typeface="Arial"/>
              </a:rPr>
              <a:t>y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comprender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las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repercusiones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sus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posibles </a:t>
            </a:r>
            <a:r>
              <a:rPr sz="1800" dirty="0">
                <a:latin typeface="Arial"/>
                <a:cs typeface="Arial"/>
              </a:rPr>
              <a:t>soluciones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podrían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tener?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95921" y="1476755"/>
            <a:ext cx="4600956" cy="38892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619" y="124503"/>
            <a:ext cx="4297045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31750">
              <a:lnSpc>
                <a:spcPct val="131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Colaboración</a:t>
            </a: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99" y="1619250"/>
            <a:ext cx="5048250" cy="275767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73225" y="1628393"/>
            <a:ext cx="941514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Char char="•"/>
              <a:tabLst>
                <a:tab pos="297180" algn="l"/>
              </a:tabLst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Crear</a:t>
            </a:r>
            <a:r>
              <a:rPr sz="24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equipos</a:t>
            </a:r>
            <a:r>
              <a:rPr sz="24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en</a:t>
            </a:r>
            <a:r>
              <a:rPr sz="24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diversidad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spcBef>
                <a:spcPts val="5"/>
              </a:spcBef>
              <a:buChar char="•"/>
              <a:tabLst>
                <a:tab pos="754380" algn="l"/>
              </a:tabLst>
            </a:pPr>
            <a:r>
              <a:rPr sz="2400" spc="-10" dirty="0">
                <a:latin typeface="Arial"/>
                <a:cs typeface="Arial"/>
              </a:rPr>
              <a:t>Género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buChar char="•"/>
              <a:tabLst>
                <a:tab pos="754380" algn="l"/>
              </a:tabLst>
            </a:pPr>
            <a:r>
              <a:rPr sz="2400" spc="-10" dirty="0">
                <a:latin typeface="Arial"/>
                <a:cs typeface="Arial"/>
              </a:rPr>
              <a:t>Sexualidad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buChar char="•"/>
              <a:tabLst>
                <a:tab pos="754380" algn="l"/>
              </a:tabLst>
            </a:pPr>
            <a:r>
              <a:rPr sz="2400" spc="-10" dirty="0">
                <a:latin typeface="Arial"/>
                <a:cs typeface="Arial"/>
              </a:rPr>
              <a:t>Religión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buChar char="•"/>
              <a:tabLst>
                <a:tab pos="754380" algn="l"/>
              </a:tabLst>
            </a:pPr>
            <a:r>
              <a:rPr sz="2400" spc="-20" dirty="0">
                <a:latin typeface="Arial"/>
                <a:cs typeface="Arial"/>
              </a:rPr>
              <a:t>Raza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buChar char="•"/>
              <a:tabLst>
                <a:tab pos="754380" algn="l"/>
              </a:tabLst>
            </a:pPr>
            <a:r>
              <a:rPr sz="2400" spc="-20" dirty="0">
                <a:latin typeface="Arial"/>
                <a:cs typeface="Arial"/>
              </a:rPr>
              <a:t>Edad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buChar char="•"/>
              <a:tabLst>
                <a:tab pos="754380" algn="l"/>
              </a:tabLst>
            </a:pPr>
            <a:r>
              <a:rPr sz="2400" spc="-10" dirty="0">
                <a:latin typeface="Arial"/>
                <a:cs typeface="Arial"/>
              </a:rPr>
              <a:t>Habilidad</a:t>
            </a:r>
            <a:endParaRPr sz="2400">
              <a:latin typeface="Arial"/>
              <a:cs typeface="Arial"/>
            </a:endParaRPr>
          </a:p>
          <a:p>
            <a:pPr marL="754380" lvl="1" indent="-284480">
              <a:lnSpc>
                <a:spcPct val="100000"/>
              </a:lnSpc>
              <a:buChar char="•"/>
              <a:tabLst>
                <a:tab pos="754380" algn="l"/>
              </a:tabLst>
            </a:pPr>
            <a:r>
              <a:rPr sz="2400" dirty="0">
                <a:latin typeface="Arial"/>
                <a:cs typeface="Arial"/>
              </a:rPr>
              <a:t>Nivel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educativo</a:t>
            </a:r>
            <a:endParaRPr sz="2400">
              <a:latin typeface="Arial"/>
              <a:cs typeface="Arial"/>
            </a:endParaRPr>
          </a:p>
          <a:p>
            <a:pPr marL="297180" marR="5080" indent="-28448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2400" dirty="0">
                <a:latin typeface="Arial"/>
                <a:cs typeface="Arial"/>
              </a:rPr>
              <a:t>Asegurar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condiciones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métodos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trabajo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adapten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la 	</a:t>
            </a:r>
            <a:r>
              <a:rPr sz="2400" spc="-10" dirty="0">
                <a:latin typeface="Arial"/>
                <a:cs typeface="Arial"/>
              </a:rPr>
              <a:t>diversidad</a:t>
            </a:r>
            <a:endParaRPr sz="2400">
              <a:latin typeface="Arial"/>
              <a:cs typeface="Arial"/>
            </a:endParaRPr>
          </a:p>
          <a:p>
            <a:pPr marL="297180" marR="956944" indent="-284480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2400" dirty="0">
                <a:latin typeface="Arial"/>
                <a:cs typeface="Arial"/>
              </a:rPr>
              <a:t>Aumenta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puntos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vista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diferentes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capacidad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desafiar, 	</a:t>
            </a:r>
            <a:r>
              <a:rPr sz="2400" spc="-20" dirty="0">
                <a:latin typeface="Arial"/>
                <a:cs typeface="Arial"/>
              </a:rPr>
              <a:t>cuestionar,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innovar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retrospectivas.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124503"/>
            <a:ext cx="3522979" cy="1303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 marR="5080" indent="-31750">
              <a:lnSpc>
                <a:spcPct val="131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20" dirty="0"/>
              <a:t>Transformación </a:t>
            </a:r>
            <a:r>
              <a:rPr dirty="0">
                <a:solidFill>
                  <a:srgbClr val="FF0000"/>
                </a:solidFill>
              </a:rPr>
              <a:t>DevOps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Cultura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6633" y="1762632"/>
            <a:ext cx="7388098" cy="39423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14420" y="2169413"/>
            <a:ext cx="82676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Confianza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61709" y="2056383"/>
            <a:ext cx="638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Aceptar cambio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87461" y="1916938"/>
            <a:ext cx="855344" cy="5054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Recompensar buenas actitudes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33535" y="2832861"/>
            <a:ext cx="762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Innovación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85055" y="2968751"/>
            <a:ext cx="829944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Comunicación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47002" y="2970784"/>
            <a:ext cx="8674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latin typeface="Arial"/>
                <a:cs typeface="Arial"/>
              </a:rPr>
              <a:t>Responsabilidad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598" y="3178301"/>
            <a:ext cx="2667762" cy="217093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67705" y="3726179"/>
            <a:ext cx="7569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latin typeface="Arial"/>
                <a:cs typeface="Arial"/>
              </a:rPr>
              <a:t>Sin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culpa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80959" y="3613403"/>
            <a:ext cx="638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575" marR="5080" indent="-143510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Aceptar fallo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95028" y="3633470"/>
            <a:ext cx="877569" cy="18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latin typeface="Arial"/>
                <a:cs typeface="Arial"/>
              </a:rPr>
              <a:t>Transparencia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48934" y="4485132"/>
            <a:ext cx="862965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latin typeface="Arial"/>
                <a:cs typeface="Arial"/>
              </a:rPr>
              <a:t>Herramientas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417814" y="4568697"/>
            <a:ext cx="84836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latin typeface="Arial"/>
                <a:cs typeface="Arial"/>
              </a:rPr>
              <a:t>Colaboración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8554" y="5093970"/>
            <a:ext cx="795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" marR="5080" indent="-2095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Honestidad Franqueza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862" y="914146"/>
            <a:ext cx="8435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Modelos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Desarrollo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Software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5570" y="1543811"/>
            <a:ext cx="6880859" cy="38221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974085" y="5594603"/>
            <a:ext cx="19094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latin typeface="Arial"/>
                <a:cs typeface="Arial"/>
              </a:rPr>
              <a:t>Desarrollo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en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cascada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0988" y="5594603"/>
            <a:ext cx="5683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Arial"/>
                <a:cs typeface="Arial"/>
              </a:rPr>
              <a:t>AGILE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3862" y="914146"/>
            <a:ext cx="8435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Modelos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Desarrollo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Software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34920" y="1973198"/>
            <a:ext cx="2476500" cy="990600"/>
          </a:xfrm>
          <a:custGeom>
            <a:avLst/>
            <a:gdLst/>
            <a:ahLst/>
            <a:cxnLst/>
            <a:rect l="l" t="t" r="r" b="b"/>
            <a:pathLst>
              <a:path w="2476500" h="990600">
                <a:moveTo>
                  <a:pt x="0" y="990600"/>
                </a:moveTo>
                <a:lnTo>
                  <a:pt x="2476500" y="990600"/>
                </a:lnTo>
                <a:lnTo>
                  <a:pt x="24765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1270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34920" y="1973198"/>
            <a:ext cx="2476500" cy="9906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12725" rIns="0" bIns="0" rtlCol="0">
            <a:spAutoFit/>
          </a:bodyPr>
          <a:lstStyle/>
          <a:p>
            <a:pPr marL="436880">
              <a:lnSpc>
                <a:spcPct val="100000"/>
              </a:lnSpc>
              <a:spcBef>
                <a:spcPts val="1675"/>
              </a:spcBef>
            </a:pP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Cascada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58130" y="1973198"/>
            <a:ext cx="2476500" cy="990600"/>
          </a:xfrm>
          <a:custGeom>
            <a:avLst/>
            <a:gdLst/>
            <a:ahLst/>
            <a:cxnLst/>
            <a:rect l="l" t="t" r="r" b="b"/>
            <a:pathLst>
              <a:path w="2476500" h="990600">
                <a:moveTo>
                  <a:pt x="0" y="990600"/>
                </a:moveTo>
                <a:lnTo>
                  <a:pt x="2476500" y="990600"/>
                </a:lnTo>
                <a:lnTo>
                  <a:pt x="24765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12700">
            <a:solidFill>
              <a:srgbClr val="22E0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58130" y="1973198"/>
            <a:ext cx="2476500" cy="990600"/>
          </a:xfrm>
          <a:prstGeom prst="rect">
            <a:avLst/>
          </a:prstGeom>
          <a:solidFill>
            <a:srgbClr val="22E047"/>
          </a:solidFill>
        </p:spPr>
        <p:txBody>
          <a:bodyPr vert="horz" wrap="square" lIns="0" tIns="212725" rIns="0" bIns="0" rtlCol="0">
            <a:spAutoFit/>
          </a:bodyPr>
          <a:lstStyle/>
          <a:p>
            <a:pPr marL="639445">
              <a:lnSpc>
                <a:spcPct val="100000"/>
              </a:lnSpc>
              <a:spcBef>
                <a:spcPts val="1675"/>
              </a:spcBef>
            </a:pP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81341" y="1973198"/>
            <a:ext cx="2476500" cy="990600"/>
          </a:xfrm>
          <a:custGeom>
            <a:avLst/>
            <a:gdLst/>
            <a:ahLst/>
            <a:cxnLst/>
            <a:rect l="l" t="t" r="r" b="b"/>
            <a:pathLst>
              <a:path w="2476500" h="990600">
                <a:moveTo>
                  <a:pt x="0" y="990600"/>
                </a:moveTo>
                <a:lnTo>
                  <a:pt x="2476500" y="990600"/>
                </a:lnTo>
                <a:lnTo>
                  <a:pt x="24765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81341" y="1973198"/>
            <a:ext cx="2476500" cy="99060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212725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675"/>
              </a:spcBef>
            </a:pPr>
            <a:r>
              <a:rPr sz="3200" spc="-10" dirty="0">
                <a:solidFill>
                  <a:srgbClr val="FFFFFF"/>
                </a:solidFill>
                <a:latin typeface="Arial"/>
                <a:cs typeface="Arial"/>
              </a:rPr>
              <a:t>Scrum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4920" y="2963798"/>
            <a:ext cx="2476500" cy="2854960"/>
          </a:xfrm>
          <a:prstGeom prst="rect">
            <a:avLst/>
          </a:prstGeom>
          <a:solidFill>
            <a:srgbClr val="FFE8CA">
              <a:alpha val="90194"/>
            </a:srgbClr>
          </a:solidFill>
          <a:ln w="12700">
            <a:solidFill>
              <a:srgbClr val="FFE8CA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 marL="188595" marR="156210" indent="-114300">
              <a:lnSpc>
                <a:spcPts val="1450"/>
              </a:lnSpc>
              <a:spcBef>
                <a:spcPts val="580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Se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centra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proceso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dirty="0">
                <a:latin typeface="Arial"/>
                <a:cs typeface="Arial"/>
              </a:rPr>
              <a:t>gestión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proyecto</a:t>
            </a:r>
            <a:endParaRPr sz="1400">
              <a:latin typeface="Arial"/>
              <a:cs typeface="Arial"/>
            </a:endParaRPr>
          </a:p>
          <a:p>
            <a:pPr marL="188595" marR="324485" indent="-114300">
              <a:lnSpc>
                <a:spcPts val="1450"/>
              </a:lnSpc>
              <a:spcBef>
                <a:spcPts val="235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Progresión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secuencia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dirty="0">
                <a:latin typeface="Arial"/>
                <a:cs typeface="Arial"/>
              </a:rPr>
              <a:t>una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fase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 </a:t>
            </a:r>
            <a:r>
              <a:rPr sz="1400" spc="-10" dirty="0">
                <a:latin typeface="Arial"/>
                <a:cs typeface="Arial"/>
              </a:rPr>
              <a:t>siguiente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8130" y="2963798"/>
            <a:ext cx="2476500" cy="2854960"/>
          </a:xfrm>
          <a:prstGeom prst="rect">
            <a:avLst/>
          </a:prstGeom>
          <a:solidFill>
            <a:srgbClr val="CCF6D2">
              <a:alpha val="90194"/>
            </a:srgbClr>
          </a:solidFill>
          <a:ln w="12700">
            <a:solidFill>
              <a:srgbClr val="CCF6D2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88595" marR="374015" indent="-114300">
              <a:lnSpc>
                <a:spcPct val="86200"/>
              </a:lnSpc>
              <a:spcBef>
                <a:spcPts val="570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Mas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ligero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flexible</a:t>
            </a:r>
            <a:r>
              <a:rPr sz="1400" spc="-25" dirty="0">
                <a:latin typeface="Arial"/>
                <a:cs typeface="Arial"/>
              </a:rPr>
              <a:t> que </a:t>
            </a:r>
            <a:r>
              <a:rPr sz="1400" dirty="0">
                <a:latin typeface="Arial"/>
                <a:cs typeface="Arial"/>
              </a:rPr>
              <a:t>otras </a:t>
            </a:r>
            <a:r>
              <a:rPr sz="1400" spc="-10" dirty="0">
                <a:latin typeface="Arial"/>
                <a:cs typeface="Arial"/>
              </a:rPr>
              <a:t>metodologías anteriores</a:t>
            </a:r>
            <a:endParaRPr sz="1400">
              <a:latin typeface="Arial"/>
              <a:cs typeface="Arial"/>
            </a:endParaRPr>
          </a:p>
          <a:p>
            <a:pPr marL="188595" marR="224154" indent="-114300">
              <a:lnSpc>
                <a:spcPts val="1450"/>
              </a:lnSpc>
              <a:spcBef>
                <a:spcPts val="250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Se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centra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individuos </a:t>
            </a:r>
            <a:r>
              <a:rPr sz="1400" dirty="0">
                <a:latin typeface="Arial"/>
                <a:cs typeface="Arial"/>
              </a:rPr>
              <a:t>iteraciones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colaboración</a:t>
            </a:r>
            <a:endParaRPr sz="1400">
              <a:latin typeface="Arial"/>
              <a:cs typeface="Arial"/>
            </a:endParaRPr>
          </a:p>
          <a:p>
            <a:pPr marL="188595" marR="274320" indent="-114300">
              <a:lnSpc>
                <a:spcPct val="86300"/>
              </a:lnSpc>
              <a:spcBef>
                <a:spcPts val="229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Generar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Software </a:t>
            </a:r>
            <a:r>
              <a:rPr sz="1400" dirty="0">
                <a:latin typeface="Arial"/>
                <a:cs typeface="Arial"/>
              </a:rPr>
              <a:t>funcionando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rápidamente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iteraciones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cortas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81341" y="2963798"/>
            <a:ext cx="2476500" cy="2854960"/>
          </a:xfrm>
          <a:prstGeom prst="rect">
            <a:avLst/>
          </a:prstGeom>
          <a:solidFill>
            <a:srgbClr val="CFD4EA">
              <a:alpha val="90194"/>
            </a:srgbClr>
          </a:solidFill>
          <a:ln w="12700">
            <a:solidFill>
              <a:srgbClr val="CFD4EA"/>
            </a:solidFill>
          </a:ln>
        </p:spPr>
        <p:txBody>
          <a:bodyPr vert="horz" wrap="square" lIns="0" tIns="72390" rIns="0" bIns="0" rtlCol="0">
            <a:spAutoFit/>
          </a:bodyPr>
          <a:lstStyle/>
          <a:p>
            <a:pPr marL="188595" marR="154940" indent="-114300">
              <a:lnSpc>
                <a:spcPct val="86300"/>
              </a:lnSpc>
              <a:spcBef>
                <a:spcPts val="570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Centrado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potenciar</a:t>
            </a:r>
            <a:r>
              <a:rPr sz="1400" spc="-25" dirty="0">
                <a:latin typeface="Arial"/>
                <a:cs typeface="Arial"/>
              </a:rPr>
              <a:t> los </a:t>
            </a:r>
            <a:r>
              <a:rPr sz="1400" dirty="0">
                <a:latin typeface="Arial"/>
                <a:cs typeface="Arial"/>
              </a:rPr>
              <a:t>equipos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programadores </a:t>
            </a:r>
            <a:r>
              <a:rPr sz="1400" dirty="0">
                <a:latin typeface="Arial"/>
                <a:cs typeface="Arial"/>
              </a:rPr>
              <a:t>para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desarrollar </a:t>
            </a:r>
            <a:r>
              <a:rPr sz="1400" dirty="0">
                <a:latin typeface="Arial"/>
                <a:cs typeface="Arial"/>
              </a:rPr>
              <a:t>rápidamente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y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responder </a:t>
            </a:r>
            <a:r>
              <a:rPr sz="1400" dirty="0">
                <a:latin typeface="Arial"/>
                <a:cs typeface="Arial"/>
              </a:rPr>
              <a:t>mejor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los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cambios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spc="-10" dirty="0">
                <a:latin typeface="Arial"/>
                <a:cs typeface="Arial"/>
              </a:rPr>
              <a:t>requerimientos</a:t>
            </a:r>
            <a:endParaRPr sz="1400">
              <a:latin typeface="Arial"/>
              <a:cs typeface="Arial"/>
            </a:endParaRPr>
          </a:p>
          <a:p>
            <a:pPr marL="188595" marR="314325" indent="-114300">
              <a:lnSpc>
                <a:spcPct val="86200"/>
              </a:lnSpc>
              <a:spcBef>
                <a:spcPts val="235"/>
              </a:spcBef>
              <a:buChar char="•"/>
              <a:tabLst>
                <a:tab pos="188595" algn="l"/>
              </a:tabLst>
            </a:pPr>
            <a:r>
              <a:rPr sz="1400" dirty="0">
                <a:latin typeface="Arial"/>
                <a:cs typeface="Arial"/>
              </a:rPr>
              <a:t>Conceptos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propios</a:t>
            </a:r>
            <a:r>
              <a:rPr sz="1400" spc="-20" dirty="0">
                <a:latin typeface="Arial"/>
                <a:cs typeface="Arial"/>
              </a:rPr>
              <a:t> como </a:t>
            </a:r>
            <a:r>
              <a:rPr sz="1400" dirty="0">
                <a:latin typeface="Arial"/>
                <a:cs typeface="Arial"/>
              </a:rPr>
              <a:t>Historias,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Sprints, </a:t>
            </a:r>
            <a:r>
              <a:rPr sz="1400" dirty="0">
                <a:latin typeface="Arial"/>
                <a:cs typeface="Arial"/>
              </a:rPr>
              <a:t>Definición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Hecho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73862" y="914146"/>
            <a:ext cx="84359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Modelos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Desarrollo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Software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769364" y="1754123"/>
            <a:ext cx="8689340" cy="4851400"/>
            <a:chOff x="1769364" y="1754123"/>
            <a:chExt cx="8689340" cy="4851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3272" y="1754123"/>
              <a:ext cx="2541270" cy="248564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6417" y="3186683"/>
              <a:ext cx="2542031" cy="1657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9364" y="3186683"/>
              <a:ext cx="2542032" cy="15361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5538" y="5068061"/>
              <a:ext cx="2856738" cy="153695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67603" y="4240148"/>
              <a:ext cx="337820" cy="604520"/>
            </a:xfrm>
            <a:custGeom>
              <a:avLst/>
              <a:gdLst/>
              <a:ahLst/>
              <a:cxnLst/>
              <a:rect l="l" t="t" r="r" b="b"/>
              <a:pathLst>
                <a:path w="337820" h="604520">
                  <a:moveTo>
                    <a:pt x="253237" y="0"/>
                  </a:moveTo>
                  <a:lnTo>
                    <a:pt x="84455" y="0"/>
                  </a:lnTo>
                  <a:lnTo>
                    <a:pt x="84455" y="435482"/>
                  </a:lnTo>
                  <a:lnTo>
                    <a:pt x="0" y="435482"/>
                  </a:lnTo>
                  <a:lnTo>
                    <a:pt x="168783" y="604265"/>
                  </a:lnTo>
                  <a:lnTo>
                    <a:pt x="337566" y="435482"/>
                  </a:lnTo>
                  <a:lnTo>
                    <a:pt x="253237" y="435482"/>
                  </a:lnTo>
                  <a:lnTo>
                    <a:pt x="253237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67603" y="4240148"/>
              <a:ext cx="337820" cy="604520"/>
            </a:xfrm>
            <a:custGeom>
              <a:avLst/>
              <a:gdLst/>
              <a:ahLst/>
              <a:cxnLst/>
              <a:rect l="l" t="t" r="r" b="b"/>
              <a:pathLst>
                <a:path w="337820" h="604520">
                  <a:moveTo>
                    <a:pt x="0" y="435482"/>
                  </a:moveTo>
                  <a:lnTo>
                    <a:pt x="84455" y="435482"/>
                  </a:lnTo>
                  <a:lnTo>
                    <a:pt x="84455" y="0"/>
                  </a:lnTo>
                  <a:lnTo>
                    <a:pt x="253237" y="0"/>
                  </a:lnTo>
                  <a:lnTo>
                    <a:pt x="253237" y="435482"/>
                  </a:lnTo>
                  <a:lnTo>
                    <a:pt x="337566" y="435482"/>
                  </a:lnTo>
                  <a:lnTo>
                    <a:pt x="168783" y="604265"/>
                  </a:lnTo>
                  <a:lnTo>
                    <a:pt x="0" y="435482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62602" y="3404869"/>
              <a:ext cx="506095" cy="461009"/>
            </a:xfrm>
            <a:custGeom>
              <a:avLst/>
              <a:gdLst/>
              <a:ahLst/>
              <a:cxnLst/>
              <a:rect l="l" t="t" r="r" b="b"/>
              <a:pathLst>
                <a:path w="506095" h="461010">
                  <a:moveTo>
                    <a:pt x="394588" y="0"/>
                  </a:moveTo>
                  <a:lnTo>
                    <a:pt x="80390" y="256920"/>
                  </a:lnTo>
                  <a:lnTo>
                    <a:pt x="24764" y="188975"/>
                  </a:lnTo>
                  <a:lnTo>
                    <a:pt x="0" y="435990"/>
                  </a:lnTo>
                  <a:lnTo>
                    <a:pt x="247014" y="460755"/>
                  </a:lnTo>
                  <a:lnTo>
                    <a:pt x="191388" y="392810"/>
                  </a:lnTo>
                  <a:lnTo>
                    <a:pt x="505713" y="135889"/>
                  </a:lnTo>
                  <a:lnTo>
                    <a:pt x="39458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62602" y="3404869"/>
              <a:ext cx="506095" cy="461009"/>
            </a:xfrm>
            <a:custGeom>
              <a:avLst/>
              <a:gdLst/>
              <a:ahLst/>
              <a:cxnLst/>
              <a:rect l="l" t="t" r="r" b="b"/>
              <a:pathLst>
                <a:path w="506095" h="461010">
                  <a:moveTo>
                    <a:pt x="24764" y="188975"/>
                  </a:moveTo>
                  <a:lnTo>
                    <a:pt x="80390" y="256920"/>
                  </a:lnTo>
                  <a:lnTo>
                    <a:pt x="394588" y="0"/>
                  </a:lnTo>
                  <a:lnTo>
                    <a:pt x="505713" y="135889"/>
                  </a:lnTo>
                  <a:lnTo>
                    <a:pt x="191388" y="392810"/>
                  </a:lnTo>
                  <a:lnTo>
                    <a:pt x="247014" y="460755"/>
                  </a:lnTo>
                  <a:lnTo>
                    <a:pt x="0" y="435990"/>
                  </a:lnTo>
                  <a:lnTo>
                    <a:pt x="24764" y="188975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89216" y="3489959"/>
              <a:ext cx="579120" cy="379095"/>
            </a:xfrm>
            <a:custGeom>
              <a:avLst/>
              <a:gdLst/>
              <a:ahLst/>
              <a:cxnLst/>
              <a:rect l="l" t="t" r="r" b="b"/>
              <a:pathLst>
                <a:path w="579120" h="379095">
                  <a:moveTo>
                    <a:pt x="55879" y="0"/>
                  </a:moveTo>
                  <a:lnTo>
                    <a:pt x="0" y="166369"/>
                  </a:lnTo>
                  <a:lnTo>
                    <a:pt x="384809" y="295656"/>
                  </a:lnTo>
                  <a:lnTo>
                    <a:pt x="356869" y="378840"/>
                  </a:lnTo>
                  <a:lnTo>
                    <a:pt x="579119" y="268350"/>
                  </a:lnTo>
                  <a:lnTo>
                    <a:pt x="468629" y="46100"/>
                  </a:lnTo>
                  <a:lnTo>
                    <a:pt x="440689" y="129285"/>
                  </a:lnTo>
                  <a:lnTo>
                    <a:pt x="55879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89216" y="3489959"/>
              <a:ext cx="579120" cy="379095"/>
            </a:xfrm>
            <a:custGeom>
              <a:avLst/>
              <a:gdLst/>
              <a:ahLst/>
              <a:cxnLst/>
              <a:rect l="l" t="t" r="r" b="b"/>
              <a:pathLst>
                <a:path w="579120" h="379095">
                  <a:moveTo>
                    <a:pt x="356869" y="378840"/>
                  </a:moveTo>
                  <a:lnTo>
                    <a:pt x="384809" y="295656"/>
                  </a:lnTo>
                  <a:lnTo>
                    <a:pt x="0" y="166369"/>
                  </a:lnTo>
                  <a:lnTo>
                    <a:pt x="55879" y="0"/>
                  </a:lnTo>
                  <a:lnTo>
                    <a:pt x="440689" y="129285"/>
                  </a:lnTo>
                  <a:lnTo>
                    <a:pt x="468629" y="46100"/>
                  </a:lnTo>
                  <a:lnTo>
                    <a:pt x="579119" y="268350"/>
                  </a:lnTo>
                  <a:lnTo>
                    <a:pt x="356869" y="37884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812798" y="1824736"/>
            <a:ext cx="22167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dirty="0">
                <a:solidFill>
                  <a:srgbClr val="FF0000"/>
                </a:solidFill>
                <a:latin typeface="Arial"/>
                <a:cs typeface="Arial"/>
              </a:rPr>
              <a:t>Empirismo:</a:t>
            </a:r>
            <a:r>
              <a:rPr sz="1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El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conocimiento </a:t>
            </a:r>
            <a:r>
              <a:rPr sz="1400" dirty="0">
                <a:latin typeface="Arial"/>
                <a:cs typeface="Arial"/>
              </a:rPr>
              <a:t>proviene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la</a:t>
            </a:r>
            <a:r>
              <a:rPr sz="1400" spc="-10" dirty="0">
                <a:latin typeface="Arial"/>
                <a:cs typeface="Arial"/>
              </a:rPr>
              <a:t> experiencia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275589"/>
            <a:ext cx="352297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8957" y="2653283"/>
            <a:ext cx="2458211" cy="244373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3862" y="701802"/>
            <a:ext cx="10412095" cy="454279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Modelos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Management</a:t>
            </a:r>
            <a:endParaRPr sz="3200">
              <a:latin typeface="Arial"/>
              <a:cs typeface="Arial"/>
            </a:endParaRPr>
          </a:p>
          <a:p>
            <a:pPr marL="731520" marR="6350" indent="-284480">
              <a:lnSpc>
                <a:spcPct val="100000"/>
              </a:lnSpc>
              <a:spcBef>
                <a:spcPts val="1255"/>
              </a:spcBef>
              <a:buChar char="•"/>
              <a:tabLst>
                <a:tab pos="732790" algn="l"/>
              </a:tabLst>
            </a:pPr>
            <a:r>
              <a:rPr sz="2400" dirty="0">
                <a:latin typeface="Arial"/>
                <a:cs typeface="Arial"/>
              </a:rPr>
              <a:t>Los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proveedores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servicios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tienen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considerar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calidad 	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servicios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prestan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potencias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relaciones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clientes</a:t>
            </a:r>
            <a:endParaRPr sz="2400">
              <a:latin typeface="Arial"/>
              <a:cs typeface="Arial"/>
            </a:endParaRPr>
          </a:p>
          <a:p>
            <a:pPr marL="731520" marR="5080" indent="-284480">
              <a:lnSpc>
                <a:spcPct val="100000"/>
              </a:lnSpc>
              <a:buChar char="•"/>
              <a:tabLst>
                <a:tab pos="732790" algn="l"/>
              </a:tabLst>
            </a:pPr>
            <a:r>
              <a:rPr sz="2400" dirty="0">
                <a:latin typeface="Arial"/>
                <a:cs typeface="Arial"/>
              </a:rPr>
              <a:t>La</a:t>
            </a:r>
            <a:r>
              <a:rPr sz="2400" spc="3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Gestión</a:t>
            </a:r>
            <a:r>
              <a:rPr sz="2400" spc="3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3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Servicios</a:t>
            </a:r>
            <a:r>
              <a:rPr sz="2400" spc="3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  <a:r>
              <a:rPr sz="2400" spc="3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requiere</a:t>
            </a:r>
            <a:r>
              <a:rPr sz="2400" spc="3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3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adecuada</a:t>
            </a:r>
            <a:r>
              <a:rPr sz="2400" spc="3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integración</a:t>
            </a:r>
            <a:r>
              <a:rPr sz="2400" spc="3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35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tres 	</a:t>
            </a:r>
            <a:r>
              <a:rPr sz="2400" spc="-10" dirty="0">
                <a:latin typeface="Arial"/>
                <a:cs typeface="Arial"/>
              </a:rPr>
              <a:t>factores</a:t>
            </a:r>
            <a:endParaRPr sz="2400">
              <a:latin typeface="Arial"/>
              <a:cs typeface="Arial"/>
            </a:endParaRPr>
          </a:p>
          <a:p>
            <a:pPr marL="731520" indent="-284480">
              <a:lnSpc>
                <a:spcPct val="100000"/>
              </a:lnSpc>
              <a:buChar char="•"/>
              <a:tabLst>
                <a:tab pos="731520" algn="l"/>
              </a:tabLst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Objetivos:</a:t>
            </a:r>
            <a:endParaRPr sz="2400">
              <a:latin typeface="Arial"/>
              <a:cs typeface="Arial"/>
            </a:endParaRPr>
          </a:p>
          <a:p>
            <a:pPr marL="1188720" lvl="1" indent="-284480">
              <a:lnSpc>
                <a:spcPct val="100000"/>
              </a:lnSpc>
              <a:buChar char="•"/>
              <a:tabLst>
                <a:tab pos="1188720" algn="l"/>
              </a:tabLst>
            </a:pPr>
            <a:r>
              <a:rPr sz="2400" dirty="0">
                <a:latin typeface="Arial"/>
                <a:cs typeface="Arial"/>
              </a:rPr>
              <a:t>Adecuada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gestión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calidad</a:t>
            </a:r>
            <a:endParaRPr sz="2400">
              <a:latin typeface="Arial"/>
              <a:cs typeface="Arial"/>
            </a:endParaRPr>
          </a:p>
          <a:p>
            <a:pPr marL="1188720" lvl="1" indent="-284480">
              <a:lnSpc>
                <a:spcPct val="100000"/>
              </a:lnSpc>
              <a:buChar char="•"/>
              <a:tabLst>
                <a:tab pos="1188720" algn="l"/>
              </a:tabLst>
            </a:pPr>
            <a:r>
              <a:rPr sz="2400" dirty="0">
                <a:latin typeface="Arial"/>
                <a:cs typeface="Arial"/>
              </a:rPr>
              <a:t>Aumentar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eficiencia</a:t>
            </a:r>
            <a:endParaRPr sz="2400">
              <a:latin typeface="Arial"/>
              <a:cs typeface="Arial"/>
            </a:endParaRPr>
          </a:p>
          <a:p>
            <a:pPr marL="1188720" lvl="1" indent="-284480">
              <a:lnSpc>
                <a:spcPct val="100000"/>
              </a:lnSpc>
              <a:buChar char="•"/>
              <a:tabLst>
                <a:tab pos="1188720" algn="l"/>
              </a:tabLst>
            </a:pPr>
            <a:r>
              <a:rPr sz="2400" dirty="0">
                <a:latin typeface="Arial"/>
                <a:cs typeface="Arial"/>
              </a:rPr>
              <a:t>Alinear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negocio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infraestructura</a:t>
            </a:r>
            <a:endParaRPr sz="2400">
              <a:latin typeface="Arial"/>
              <a:cs typeface="Arial"/>
            </a:endParaRPr>
          </a:p>
          <a:p>
            <a:pPr marL="1188720" lvl="1" indent="-284480">
              <a:lnSpc>
                <a:spcPct val="100000"/>
              </a:lnSpc>
              <a:buChar char="•"/>
              <a:tabLst>
                <a:tab pos="1188720" algn="l"/>
              </a:tabLst>
            </a:pPr>
            <a:r>
              <a:rPr sz="2400" dirty="0">
                <a:latin typeface="Arial"/>
                <a:cs typeface="Arial"/>
              </a:rPr>
              <a:t>Reducir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riesgos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asociados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servicios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IT</a:t>
            </a:r>
            <a:endParaRPr sz="2400">
              <a:latin typeface="Arial"/>
              <a:cs typeface="Arial"/>
            </a:endParaRPr>
          </a:p>
          <a:p>
            <a:pPr marL="1188720" lvl="1" indent="-284480">
              <a:lnSpc>
                <a:spcPct val="100000"/>
              </a:lnSpc>
              <a:buChar char="•"/>
              <a:tabLst>
                <a:tab pos="1188720" algn="l"/>
              </a:tabLst>
            </a:pPr>
            <a:r>
              <a:rPr sz="2400" dirty="0">
                <a:latin typeface="Arial"/>
                <a:cs typeface="Arial"/>
              </a:rPr>
              <a:t>Contribuir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los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resultados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negocio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3. </a:t>
            </a:r>
            <a:r>
              <a:rPr spc="-10" dirty="0"/>
              <a:t>Transformación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3862" y="914146"/>
            <a:ext cx="85286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DevOps</a:t>
            </a:r>
            <a:r>
              <a:rPr sz="32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Modelos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32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IT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Service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Management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3614928"/>
            <a:ext cx="3555492" cy="27203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77416" y="2005075"/>
            <a:ext cx="7784465" cy="2768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Biblioteca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Infraestructura</a:t>
            </a:r>
            <a:r>
              <a:rPr sz="20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Arial"/>
                <a:cs typeface="Arial"/>
              </a:rPr>
              <a:t>Tecnologías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Información</a:t>
            </a:r>
            <a:r>
              <a:rPr sz="2000" spc="500" dirty="0">
                <a:solidFill>
                  <a:srgbClr val="FF0000"/>
                </a:solidFill>
                <a:latin typeface="Arial"/>
                <a:cs typeface="Arial"/>
              </a:rPr>
              <a:t>  </a:t>
            </a:r>
            <a:r>
              <a:rPr sz="2000" dirty="0">
                <a:latin typeface="Arial"/>
                <a:cs typeface="Arial"/>
              </a:rPr>
              <a:t>Conjunto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conceptos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buenas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prácticas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usadas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para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gestión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 </a:t>
            </a:r>
            <a:r>
              <a:rPr sz="2000" dirty="0">
                <a:latin typeface="Arial"/>
                <a:cs typeface="Arial"/>
              </a:rPr>
              <a:t>servicios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tecnologías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información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FASES</a:t>
            </a:r>
            <a:endParaRPr sz="2000">
              <a:latin typeface="Arial"/>
              <a:cs typeface="Arial"/>
            </a:endParaRPr>
          </a:p>
          <a:p>
            <a:pPr marL="12700" marR="521779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Estrategia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Servicio </a:t>
            </a:r>
            <a:r>
              <a:rPr sz="2000" dirty="0">
                <a:latin typeface="Arial"/>
                <a:cs typeface="Arial"/>
              </a:rPr>
              <a:t>Diseño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Servicio Transición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Servicio </a:t>
            </a:r>
            <a:r>
              <a:rPr sz="2000" dirty="0">
                <a:latin typeface="Arial"/>
                <a:cs typeface="Arial"/>
              </a:rPr>
              <a:t>Operación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servicio </a:t>
            </a:r>
            <a:r>
              <a:rPr sz="2000" dirty="0">
                <a:latin typeface="Arial"/>
                <a:cs typeface="Arial"/>
              </a:rPr>
              <a:t>Mejora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continua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2619" y="179527"/>
            <a:ext cx="3522979" cy="1192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2490" marR="5080" indent="-860425">
              <a:lnSpc>
                <a:spcPct val="119600"/>
              </a:lnSpc>
              <a:spcBef>
                <a:spcPts val="100"/>
              </a:spcBef>
            </a:pPr>
            <a:r>
              <a:rPr dirty="0"/>
              <a:t>3. </a:t>
            </a:r>
            <a:r>
              <a:rPr spc="-20" dirty="0"/>
              <a:t>Transformación </a:t>
            </a:r>
            <a:r>
              <a:rPr spc="-10" dirty="0">
                <a:solidFill>
                  <a:srgbClr val="FF0000"/>
                </a:solidFill>
              </a:rPr>
              <a:t>DevOps-</a:t>
            </a:r>
            <a:r>
              <a:rPr spc="-20" dirty="0">
                <a:solidFill>
                  <a:srgbClr val="FF0000"/>
                </a:solidFill>
              </a:rPr>
              <a:t>Lean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02917" y="1706625"/>
            <a:ext cx="91808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5080" indent="-33909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Modelo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gestión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cuyo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objetivo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es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desarrollar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una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cultura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organización 	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resulte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más</a:t>
            </a:r>
            <a:r>
              <a:rPr sz="2000" spc="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eficiente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mediante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aplicación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cambios</a:t>
            </a:r>
            <a:r>
              <a:rPr sz="2000" spc="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en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procesos 	</a:t>
            </a:r>
            <a:r>
              <a:rPr sz="2000" dirty="0">
                <a:latin typeface="Arial"/>
                <a:cs typeface="Arial"/>
              </a:rPr>
              <a:t>del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negocio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incrementen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velocidad</a:t>
            </a:r>
            <a:r>
              <a:rPr sz="20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2000" spc="1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respuesta</a:t>
            </a:r>
            <a:r>
              <a:rPr sz="20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con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18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reducción</a:t>
            </a:r>
            <a:r>
              <a:rPr sz="2000" spc="18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de 	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desperdicios,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costes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y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tiempos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vez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mejora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calidad.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2917" y="3172968"/>
            <a:ext cx="11963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Principios: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2917" y="3477767"/>
            <a:ext cx="4939665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Especificar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Valor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para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clientes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Identificar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el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mapa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cadena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valor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Favorecer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flujos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sin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interrupción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Dejar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los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clientes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tiren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producción</a:t>
            </a:r>
            <a:endParaRPr sz="20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Mejora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continua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5009" y="3173729"/>
            <a:ext cx="33407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El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cliente</a:t>
            </a:r>
            <a:r>
              <a:rPr sz="1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lo</a:t>
            </a:r>
            <a:r>
              <a:rPr sz="18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que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adquiere</a:t>
            </a:r>
            <a:r>
              <a:rPr sz="1800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es</a:t>
            </a:r>
            <a:r>
              <a:rPr sz="18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una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solución,</a:t>
            </a:r>
            <a:r>
              <a:rPr sz="1800" spc="-3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no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un</a:t>
            </a:r>
            <a:r>
              <a:rPr sz="1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producto</a:t>
            </a:r>
            <a:r>
              <a:rPr sz="1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006FC0"/>
                </a:solidFill>
                <a:latin typeface="Arial"/>
                <a:cs typeface="Arial"/>
              </a:rPr>
              <a:t>o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servicio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95668" y="4271009"/>
            <a:ext cx="34798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“Ninguna</a:t>
            </a:r>
            <a:r>
              <a:rPr sz="1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máquina</a:t>
            </a:r>
            <a:r>
              <a:rPr sz="1800" spc="-4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o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proceso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llegará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un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punto</a:t>
            </a:r>
            <a:r>
              <a:rPr sz="1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partir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del</a:t>
            </a:r>
            <a:r>
              <a:rPr sz="1800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006FC0"/>
                </a:solidFill>
                <a:latin typeface="Arial"/>
                <a:cs typeface="Arial"/>
              </a:rPr>
              <a:t>cual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no</a:t>
            </a:r>
            <a:r>
              <a:rPr sz="1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se</a:t>
            </a:r>
            <a:r>
              <a:rPr sz="1800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puede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06FC0"/>
                </a:solidFill>
                <a:latin typeface="Arial"/>
                <a:cs typeface="Arial"/>
              </a:rPr>
              <a:t>seguir</a:t>
            </a:r>
            <a:r>
              <a:rPr sz="1800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Arial"/>
                <a:cs typeface="Arial"/>
              </a:rPr>
              <a:t>mejorando”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-155956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•.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4. </a:t>
            </a:r>
            <a:r>
              <a:rPr spc="-10" dirty="0"/>
              <a:t>Práctica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8423" y="2260092"/>
            <a:ext cx="8455152" cy="23378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-155956"/>
            <a:ext cx="168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Arial"/>
                <a:cs typeface="Arial"/>
              </a:rPr>
              <a:t>•.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78180" y="279145"/>
            <a:ext cx="26892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5. </a:t>
            </a:r>
            <a:r>
              <a:rPr spc="-10" dirty="0"/>
              <a:t>Cierre Conclusiones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72742" y="1930400"/>
            <a:ext cx="8447405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La</a:t>
            </a:r>
            <a:r>
              <a:rPr sz="2400" spc="3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implementación</a:t>
            </a:r>
            <a:r>
              <a:rPr sz="2400" spc="3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3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DevOps</a:t>
            </a:r>
            <a:r>
              <a:rPr sz="2400" spc="3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implica</a:t>
            </a:r>
            <a:r>
              <a:rPr sz="2400" spc="3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más</a:t>
            </a:r>
            <a:r>
              <a:rPr sz="2400" spc="3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aspectos,</a:t>
            </a:r>
            <a:r>
              <a:rPr sz="2400" spc="3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ya 	</a:t>
            </a:r>
            <a:r>
              <a:rPr sz="2400" dirty="0">
                <a:latin typeface="Arial"/>
                <a:cs typeface="Arial"/>
              </a:rPr>
              <a:t>sea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coordinación,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adaptación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aplicación.</a:t>
            </a:r>
            <a:endParaRPr sz="2400">
              <a:latin typeface="Arial"/>
              <a:cs typeface="Arial"/>
            </a:endParaRPr>
          </a:p>
          <a:p>
            <a:pPr marL="353060" marR="5080" indent="-340360" algn="just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Se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propone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implementación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proceso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cual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comparta 	</a:t>
            </a:r>
            <a:r>
              <a:rPr sz="2400" dirty="0">
                <a:latin typeface="Arial"/>
                <a:cs typeface="Arial"/>
              </a:rPr>
              <a:t>las</a:t>
            </a:r>
            <a:r>
              <a:rPr sz="2400" spc="54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prácticas</a:t>
            </a:r>
            <a:r>
              <a:rPr sz="2400" spc="55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del</a:t>
            </a:r>
            <a:r>
              <a:rPr sz="2400" spc="54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desarrollo</a:t>
            </a:r>
            <a:r>
              <a:rPr sz="2400" spc="54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ágil</a:t>
            </a:r>
            <a:r>
              <a:rPr sz="2400" spc="54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para</a:t>
            </a:r>
            <a:r>
              <a:rPr sz="2400" spc="55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partir</a:t>
            </a:r>
            <a:r>
              <a:rPr sz="2400" spc="54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545" dirty="0">
                <a:latin typeface="Arial"/>
                <a:cs typeface="Arial"/>
              </a:rPr>
              <a:t>  </a:t>
            </a:r>
            <a:r>
              <a:rPr sz="2400" spc="-25" dirty="0">
                <a:latin typeface="Arial"/>
                <a:cs typeface="Arial"/>
              </a:rPr>
              <a:t>la 	</a:t>
            </a:r>
            <a:r>
              <a:rPr sz="2400" dirty="0">
                <a:latin typeface="Arial"/>
                <a:cs typeface="Arial"/>
              </a:rPr>
              <a:t>implementación</a:t>
            </a:r>
            <a:r>
              <a:rPr sz="2400" spc="13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de</a:t>
            </a:r>
            <a:r>
              <a:rPr sz="2400" spc="12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automatización</a:t>
            </a:r>
            <a:r>
              <a:rPr sz="2400" spc="125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para</a:t>
            </a:r>
            <a:r>
              <a:rPr sz="2400" spc="130" dirty="0">
                <a:latin typeface="Arial"/>
                <a:cs typeface="Arial"/>
              </a:rPr>
              <a:t>  </a:t>
            </a:r>
            <a:r>
              <a:rPr sz="2400" dirty="0">
                <a:latin typeface="Arial"/>
                <a:cs typeface="Arial"/>
              </a:rPr>
              <a:t>evitar</a:t>
            </a:r>
            <a:r>
              <a:rPr sz="2400" spc="120" dirty="0">
                <a:latin typeface="Arial"/>
                <a:cs typeface="Arial"/>
              </a:rPr>
              <a:t>  </a:t>
            </a:r>
            <a:r>
              <a:rPr sz="2400" spc="-10" dirty="0">
                <a:latin typeface="Arial"/>
                <a:cs typeface="Arial"/>
              </a:rPr>
              <a:t>posibles 	</a:t>
            </a:r>
            <a:r>
              <a:rPr sz="2400" dirty="0">
                <a:latin typeface="Arial"/>
                <a:cs typeface="Arial"/>
              </a:rPr>
              <a:t>problemas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frustraciones,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mitigando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el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riesgo.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10505" y="4849370"/>
            <a:ext cx="2543801" cy="13493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222" y="145913"/>
            <a:ext cx="10652320" cy="65661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1222</Words>
  <Application>Microsoft Office PowerPoint</Application>
  <PresentationFormat>Panorámica</PresentationFormat>
  <Paragraphs>192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Google Sans</vt:lpstr>
      <vt:lpstr>Wingdings</vt:lpstr>
      <vt:lpstr>Office Theme</vt:lpstr>
      <vt:lpstr>Innovación y Transformación Digital</vt:lpstr>
      <vt:lpstr>1. Inicio</vt:lpstr>
      <vt:lpstr>2. Utilidad</vt:lpstr>
      <vt:lpstr>2. Utilidad</vt:lpstr>
      <vt:lpstr>2. Utilidad Logro de aprendizaje de la sesión</vt:lpstr>
      <vt:lpstr>2. Utilidad Conocimientos previos</vt:lpstr>
      <vt:lpstr>3. Transformación</vt:lpstr>
      <vt:lpstr>Presentación de PowerPoint</vt:lpstr>
      <vt:lpstr>3. Transformación</vt:lpstr>
      <vt:lpstr>3. Transformación</vt:lpstr>
      <vt:lpstr>3. Transformación DevOps Mentalidad</vt:lpstr>
      <vt:lpstr>DevOps alineación Lean Scrum</vt:lpstr>
      <vt:lpstr>3. Transformación</vt:lpstr>
      <vt:lpstr>3. Transformación DevOps Mentalidad</vt:lpstr>
      <vt:lpstr>3. Transformación</vt:lpstr>
      <vt:lpstr>3. Transformación DevOps Roles</vt:lpstr>
      <vt:lpstr>3. Transformación DevOps Colaboración</vt:lpstr>
      <vt:lpstr>3. Transformación DevOps Colaboración</vt:lpstr>
      <vt:lpstr>3. Transformación</vt:lpstr>
      <vt:lpstr>3. Transformación DevOps Colaboración</vt:lpstr>
      <vt:lpstr>3. Transformación DevOps Cultura</vt:lpstr>
      <vt:lpstr>3. Transformación</vt:lpstr>
      <vt:lpstr>3. Transformación</vt:lpstr>
      <vt:lpstr>3. Transformación</vt:lpstr>
      <vt:lpstr>3. Transformación</vt:lpstr>
      <vt:lpstr>3. Transformación</vt:lpstr>
      <vt:lpstr>3. Transformación DevOps-Lean</vt:lpstr>
      <vt:lpstr>4. Práctica</vt:lpstr>
      <vt:lpstr>5. Cierre Conclusiones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 a Presentation</dc:title>
  <dc:creator>Orians, A.J.</dc:creator>
  <cp:lastModifiedBy>Docente - Eleodoro Orbegoso Carrera</cp:lastModifiedBy>
  <cp:revision>2</cp:revision>
  <dcterms:created xsi:type="dcterms:W3CDTF">2026-10-19T13:13:45Z</dcterms:created>
  <dcterms:modified xsi:type="dcterms:W3CDTF">2026-10-19T14:48:48Z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2025-08-31T00:00:00Z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2026-10-19T00:00:00Z</vt:filetime>
  </property>
  <property fmtid="{D5CDD505-2E9C-101B-9397-08002B2CF9AE}" pid="6" name="Producer">
    <vt:lpwstr>Microsoft® PowerPoint® 2021</vt:lpwstr>
  </property>
</Properties>
</file>